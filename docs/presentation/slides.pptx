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[00:00 - 00:30]  slide 01 of 11</a:t>
            </a:r>
          </a:p>
          <a:p/>
          <a:p>
            <a:r>
              <a:t>CUE: Say the title, then move on. Do not read the author list aloud.</a:t>
            </a:r>
          </a:p>
          <a:p/>
          <a:p>
            <a:r>
              <a:t>Good morning. Our paper is called Grading Is Easy, Feedback Is Hard, and the artifact I want to show you is the machinery behind that title.</a:t>
            </a:r>
          </a:p>
          <a:p/>
          <a:p>
            <a:r>
              <a:t>It is a replication package for evaluating large language models as instructor-support tools on a design-oriented object-oriented programming assignment. Eighty-four real Java submissions, two models, a complete prompt protocol, and every intermediate file.</a:t>
            </a:r>
          </a:p>
          <a:p/>
          <a:p>
            <a:r>
              <a:t>Everything I show runs on your laptop without an API key.</a:t>
            </a:r>
          </a:p>
          <a:p/>
          <a:p>
            <a:r>
              <a:t>(70 words / 30s window, budget 72)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[00:30 - 01:15]  slide 02 of 11</a:t>
            </a:r>
          </a:p>
          <a:p/>
          <a:p>
            <a:r>
              <a:t>First, why we needed an artifact at all.</a:t>
            </a:r>
          </a:p>
          <a:p/>
          <a:p>
            <a:r>
              <a:t>In our OOP course students refactor a deliberately weak codebase, so correctness and design pull apart. Submission A can pass every feature check while being one four-hundred-line class with no domain objects. Submission B can have a single off-by-one bug on top of a clean class model.</a:t>
            </a:r>
          </a:p>
          <a:p/>
          <a:p>
            <a:r>
              <a:t>Unit tests and static analysis rank A above B. An instructor does not.</a:t>
            </a:r>
          </a:p>
          <a:p/>
          <a:p>
            <a:r>
              <a:t>So this assessment stays manual: eighty-four submissions, seven rubric criteria each, plus written feedback, across twenty-eight teaching assistants.</a:t>
            </a:r>
          </a:p>
          <a:p/>
          <a:p>
            <a:r>
              <a:t>The obvious question is whether an LLM can help. The harder one is how you would measure "help" at all.</a:t>
            </a:r>
          </a:p>
          <a:p/>
          <a:p>
            <a:r>
              <a:t>(106 words / 45s window, budget 109)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[01:15 - 01:50]  slide 03 of 11</a:t>
            </a:r>
          </a:p>
          <a:p/>
          <a:p>
            <a:r>
              <a:t>Here is what you get.</a:t>
            </a:r>
          </a:p>
          <a:p/>
          <a:p>
            <a:r>
              <a:t>src/prompt is the grading protocol - eight files, and I would argue that is the real contribution. src/pipeline and src/workflows are twenty-three scripts: render prompts, call providers, validate outputs, compute statistics. And reproduce.py rebuilds the entire paper in one command.</a:t>
            </a:r>
          </a:p>
          <a:p/>
          <a:p>
            <a:r>
              <a:t>Then the data: six run directories, two models times three repetitions. Each holds the anonymized submissions, the rubric, one thousand and eight rendered prompts - the exact bytes we sent - five hundred and four model assessments, the TA grades and the expert reference.</a:t>
            </a:r>
          </a:p>
          <a:p/>
          <a:p>
            <a:r>
              <a:t>(89 words / 35s window, budget 85)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[01:50 - 02:55]  slide 04 of 11</a:t>
            </a:r>
          </a:p>
          <a:p/>
          <a:p>
            <a:r>
              <a:t>Now the prompt, because that is what people usually want to see. We split grading into two calls, deliberately.</a:t>
            </a:r>
          </a:p>
          <a:p/>
          <a:p>
            <a:r>
              <a:t>Stage one is scoring only - the prompt forbids student-facing prose here. For every rubric criterion the model must return a score, positive evidence of learning, observations that should not cost points, and a list of deductions. Every deduction is structured: points lost, severity, confidence, which rubric requirement it anchors to, the problem, the consequence, how to fix it, and references into the code. Plus a reviewer-audit block flagging what a human should double-check.</a:t>
            </a:r>
          </a:p>
          <a:p/>
          <a:p>
            <a:r>
              <a:t>Only then does stage two turn that validated JSON into feedback. It is told not to re-grade and not to look for new defects. It selects at most six high-confidence items and writes them for a first-year student.</a:t>
            </a:r>
          </a:p>
          <a:p/>
          <a:p>
            <a:r>
              <a:t>The split makes the two failure modes separable: when a grade is wrong, you can point at the deduction that caused it.</a:t>
            </a:r>
          </a:p>
          <a:p/>
          <a:p>
            <a:r>
              <a:t>(153 words / 65s window, budget 157)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[02:55 - 03:55]  slide 05 of 11</a:t>
            </a:r>
          </a:p>
          <a:p/>
          <a:p>
            <a:r>
              <a:t>This is the part I would actually reuse, so let me be concrete. Nothing in that prompt directory is a finished prompt - they are templates with double-brace placeholders, filled at two distinct moments.</a:t>
            </a:r>
          </a:p>
          <a:p/>
          <a:p>
            <a:r>
              <a:t>At build time, the render script resolves nine slots for stage one: the specification, the grading reference, the starter scaffold, and the rubric - which is gated, so the script refuses to render if the rubric is not marked ready. Plus the course principles, the calibration examples and the schema. A hundred and thirty-six lines of template become a seventeen-hundred-line prompt.</a:t>
            </a:r>
          </a:p>
          <a:p/>
          <a:p>
            <a:r>
              <a:t>Stage two is the interesting one. One placeholder is deliberately left unresolved on disk; at call time the runner parses the stage one response, re-serializes it, and only then injects it.</a:t>
            </a:r>
          </a:p>
          <a:p/>
          <a:p>
            <a:r>
              <a:t>Two consequences. Stage two never sees raw model prose, only validated JSON. And since that substitution is the only non-static step, the prompts we ship are a faithful audit trail.</a:t>
            </a:r>
          </a:p>
          <a:p/>
          <a:p>
            <a:r>
              <a:t>(156 words / 60s window, budget 145)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[03:55 - 04:45]  slide 06 of 11</a:t>
            </a:r>
          </a:p>
          <a:p/>
          <a:p>
            <a:r>
              <a:t>The templates are only half of it. The other half is the guardrails, and every one of them exists because the model got something wrong without it.</a:t>
            </a:r>
          </a:p>
          <a:p/>
          <a:p>
            <a:r>
              <a:t>We had to write, literally: do not convert optional improvements into point loss - route them to a separate non-penalized observations list. Avoid double jeopardy: if one root cause produces five symptoms, deduct once, on the criterion it most affects. Do not penalize naming, formatting, casing or punctuation. Here is the severity scale in actual points, because moderate means nothing on its own. And if confidence is low, keep it out of the student's feedback and log the omission for the reviewer.</a:t>
            </a:r>
          </a:p>
          <a:p/>
          <a:p>
            <a:r>
              <a:t>The two JSON schemas are hard contracts, and the pipeline validates every single response against them.</a:t>
            </a:r>
          </a:p>
          <a:p/>
          <a:p>
            <a:r>
              <a:t>(125 words / 50s window, budget 121)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[04:45 - 05:30]  slide 07 of 11</a:t>
            </a:r>
          </a:p>
          <a:p/>
          <a:p>
            <a:r>
              <a:t>How the study was actually run, in three phases.</a:t>
            </a:r>
          </a:p>
          <a:p/>
          <a:p>
            <a:r>
              <a:t>Phase one, inputs. Submissions are anonymized: author lines masked, repository names replaced, identifiers reduced to S01 through S84. No raw student repositories and no identity mapping ship in the artifact.</a:t>
            </a:r>
          </a:p>
          <a:p/>
          <a:p>
            <a:r>
              <a:t>Phase two, evaluation. Three sources of judgement: the TA grades, which are the authentic operational baseline; an expert reference, meaning rubric scores plus three hundred sixty-one annotated issues over a twelve-category taxonomy; and the LLM assessments - both models, three runs each, five hundred and four assessments.</a:t>
            </a:r>
          </a:p>
          <a:p/>
          <a:p>
            <a:r>
              <a:t>Phase three, the analyses for our two research questions, plus run-to-run stability.</a:t>
            </a:r>
          </a:p>
          <a:p/>
          <a:p>
            <a:r>
              <a:t>The detail I would highlight for reuse: every run directory is self-contained.</a:t>
            </a:r>
          </a:p>
          <a:p/>
          <a:p>
            <a:r>
              <a:t>(110 words / 45s window, budget 109)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[05:30 - 06:10]  slide 08 of 11</a:t>
            </a:r>
          </a:p>
          <a:p/>
          <a:p>
            <a:r>
              <a:t>One measurement was genuinely hard.</a:t>
            </a:r>
          </a:p>
          <a:p/>
          <a:p>
            <a:r>
              <a:t>To ask whether the model found the same problem as the expert, string equality is useless and taxonomy overlap is far too generous. Two evaluators describe one encapsulation defect in completely different words.</a:t>
            </a:r>
          </a:p>
          <a:p/>
          <a:p>
            <a:r>
              <a:t>So we used a third model, Claude Sonnet 5, as adjudicator - from a provider family we were not evaluating, so neither model gets a home advantage. Matching is scoped to one submission and one criterion.</a:t>
            </a:r>
          </a:p>
          <a:p/>
          <a:p>
            <a:r>
              <a:t>That is model-assisted labelling, so we call it operational matching, not ground truth. The prompt, the model identifier and every cache entry ship in the artifact.</a:t>
            </a:r>
          </a:p>
          <a:p/>
          <a:p>
            <a:r>
              <a:t>IF AHEAD: and there is a sensitivity check - reversing ten adjudicated matches shifts precision and recall by under four hundredths.</a:t>
            </a:r>
          </a:p>
          <a:p/>
          <a:p>
            <a:r>
              <a:t>(100 words / 40s window, budget 97)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[06:10 - 07:00]  slide 09 of 11</a:t>
            </a:r>
          </a:p>
          <a:p/>
          <a:p>
            <a:r>
              <a:t>The results, briefly.</a:t>
            </a:r>
          </a:p>
          <a:p/>
          <a:p>
            <a:r>
              <a:t>On grades, Gemini essentially matches the human baseline: mean absolute error of 0.44 against the expert reference, where the TAs themselves sit at 0.45. GPT-5.5 systematically undergrades, with a bias of minus 1.45.</a:t>
            </a:r>
          </a:p>
          <a:p/>
          <a:p>
            <a:r>
              <a:t>On diagnosis, the F1 scores are almost identical - 0.67 and 0.65 - and that similarity hides completely opposite behaviour. GPT-5.5 finds nearly every expert-annotated issue, recall 0.96, but about half of what it reports has no expert equivalent. Gemini is much cleaner and misses over a third of the issues.</a:t>
            </a:r>
          </a:p>
          <a:p/>
          <a:p>
            <a:r>
              <a:t>And stability: both models rank submissions consistently, ICC around 0.9, yet exact agreement across three runs is two percent and zero.</a:t>
            </a:r>
          </a:p>
          <a:p/>
          <a:p>
            <a:r>
              <a:t>Same aggregate F1, a different assessment instrument. That is the title.</a:t>
            </a:r>
          </a:p>
          <a:p/>
          <a:p>
            <a:r>
              <a:t>(119 words / 50s window, budget 121)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[07:00 - 07:45]  slide 10 of 11</a:t>
            </a:r>
          </a:p>
          <a:p/>
          <a:p>
            <a:r>
              <a:t>So, reproducing it. Three commands: virtual environment, install requirements, run reproduce.</a:t>
            </a:r>
          </a:p>
          <a:p/>
          <a:p>
            <a:r>
              <a:t>No API keys, no Docker, no GPU. I re-checked on a clean Ubuntu machine while preparing this talk: thirteen seconds end to end, and every markdown table came back byte-identical to the paper.</a:t>
            </a:r>
          </a:p>
          <a:p/>
          <a:p>
            <a:r>
              <a:t>There are flags for the triangulation analyses, and one to re-run the models themselves - and we warn you there, because provider models drift, so those numbers may not match ours.</a:t>
            </a:r>
          </a:p>
          <a:p/>
          <a:p>
            <a:r>
              <a:t>To reuse it for your own course: replace the rubric and the specification, drop your submissions in, and keep the prompt directory. That is the transferable part.</a:t>
            </a:r>
          </a:p>
          <a:p/>
          <a:p>
            <a:r>
              <a:t>(102 words / 45s window, budget 109)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[07:45 - 08:00]  slide 11 of 11</a:t>
            </a:r>
          </a:p>
          <a:p/>
          <a:p>
            <a:r>
              <a:t>To close: we are not shipping a grader. We are shipping a way to measure one - separately for grade calibration and for diagnostic coverage, on authentic submissions, in one command.</a:t>
            </a:r>
          </a:p>
          <a:p/>
          <a:p>
            <a:r>
              <a:t>Thank you - happy to take questions.</a:t>
            </a:r>
          </a:p>
          <a:p/>
          <a:p>
            <a:r>
              <a:t>(38 words / 15s window, budget 36)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658368"/>
            <a:ext cx="10817352" cy="2194560"/>
          </a:xfrm>
          <a:prstGeom prst="rect">
            <a:avLst/>
          </a:prstGeom>
          <a:noFill/>
        </p:spPr>
        <p:txBody>
          <a:bodyPr wrap="square" lIns="0" rIns="0" tIns="0" bIns="0">
            <a:noAutofit/>
          </a:bodyPr>
          <a:lstStyle/>
          <a:p>
            <a:pPr>
              <a:lnSpc>
                <a:spcPct val="102000"/>
              </a:lnSpc>
            </a:pPr>
            <a:r>
              <a:rPr sz="6600" b="0" i="0">
                <a:solidFill>
                  <a:srgbClr val="2B2C30"/>
                </a:solidFill>
                <a:latin typeface="Playfair Display"/>
              </a:rPr>
              <a:t>Grading Is Easy,</a:t>
            </a:r>
          </a:p>
          <a:p>
            <a:pPr>
              <a:lnSpc>
                <a:spcPct val="102000"/>
              </a:lnSpc>
            </a:pPr>
            <a:r>
              <a:rPr sz="6600" b="0" i="0">
                <a:solidFill>
                  <a:srgbClr val="2B2C30"/>
                </a:solidFill>
                <a:latin typeface="Playfair Display"/>
              </a:rPr>
              <a:t>Feedback Is Hard</a:t>
            </a:r>
          </a:p>
        </p:txBody>
      </p:sp>
      <p:cxnSp>
        <p:nvCxnSpPr>
          <p:cNvPr id="3" name="Connector 2"/>
          <p:cNvCxnSpPr/>
          <p:nvPr/>
        </p:nvCxnSpPr>
        <p:spPr>
          <a:xfrm>
            <a:off x="685800" y="2999232"/>
            <a:ext cx="10817352" cy="0"/>
          </a:xfrm>
          <a:prstGeom prst="line">
            <a:avLst/>
          </a:prstGeom>
          <a:ln w="9525">
            <a:solidFill>
              <a:srgbClr val="2B2C3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3182112"/>
            <a:ext cx="10817352" cy="822960"/>
          </a:xfrm>
          <a:prstGeom prst="rect">
            <a:avLst/>
          </a:prstGeom>
          <a:noFill/>
        </p:spPr>
        <p:txBody>
          <a:bodyPr wrap="square" lIns="0" rIns="0" tIns="0" bIns="0">
            <a:noAutofit/>
          </a:bodyPr>
          <a:lstStyle/>
          <a:p>
            <a:pPr>
              <a:lnSpc>
                <a:spcPct val="135000"/>
              </a:lnSpc>
            </a:pPr>
            <a:r>
              <a:rPr sz="1700" b="1" i="0" spc="340">
                <a:solidFill>
                  <a:srgbClr val="2B2C30"/>
                </a:solidFill>
                <a:latin typeface="Public Sans"/>
              </a:rPr>
              <a:t>EVALUATING LLMS FOR DESIGN-ORIENTED OOP ASSESSMENT</a:t>
            </a:r>
          </a:p>
        </p:txBody>
      </p:sp>
      <p:sp>
        <p:nvSpPr>
          <p:cNvPr id="5" name="TextBox 4"/>
          <p:cNvSpPr txBox="1"/>
          <p:nvPr/>
        </p:nvSpPr>
        <p:spPr>
          <a:xfrm>
            <a:off x="685800" y="4892040"/>
            <a:ext cx="10817352" cy="1463040"/>
          </a:xfrm>
          <a:prstGeom prst="rect">
            <a:avLst/>
          </a:prstGeom>
          <a:noFill/>
        </p:spPr>
        <p:txBody>
          <a:bodyPr wrap="square" lIns="0" rIns="0" tIns="0" bIns="0">
            <a:noAutofit/>
          </a:bodyPr>
          <a:lstStyle/>
          <a:p>
            <a:pPr>
              <a:lnSpc>
                <a:spcPct val="150000"/>
              </a:lnSpc>
            </a:pPr>
            <a:r>
              <a:rPr sz="1100" b="0" i="0">
                <a:solidFill>
                  <a:srgbClr val="82838A"/>
                </a:solidFill>
                <a:latin typeface="Public Sans"/>
              </a:rPr>
              <a:t>Research artifact  .  SBES 2026 / CBSoft 2026  .  Artifacts Festival</a:t>
            </a:r>
          </a:p>
          <a:p>
            <a:pPr>
              <a:lnSpc>
                <a:spcPct val="150000"/>
              </a:lnSpc>
            </a:pPr>
            <a:r>
              <a:rPr sz="1100" b="0" i="0">
                <a:solidFill>
                  <a:srgbClr val="82838A"/>
                </a:solidFill>
                <a:latin typeface="Public Sans"/>
              </a:rPr>
              <a:t>Eli P. C. Silva  .  Eliane C. Araujo  .  Everton L. G. Alves</a:t>
            </a:r>
          </a:p>
          <a:p>
            <a:pPr>
              <a:lnSpc>
                <a:spcPct val="150000"/>
              </a:lnSpc>
            </a:pPr>
            <a:r>
              <a:rPr sz="1100" b="0" i="0">
                <a:solidFill>
                  <a:srgbClr val="82838A"/>
                </a:solidFill>
                <a:latin typeface="Public Sans"/>
              </a:rPr>
              <a:t>Universidade Federal de Campina Grande, Brazil</a:t>
            </a:r>
          </a:p>
          <a:p>
            <a:pPr>
              <a:lnSpc>
                <a:spcPct val="150000"/>
              </a:lnSpc>
            </a:pPr>
            <a:r>
              <a:rPr sz="1100" b="0" i="0">
                <a:solidFill>
                  <a:srgbClr val="82838A"/>
                </a:solidFill>
                <a:latin typeface="Public Sans"/>
              </a:rPr>
              <a:t>github.com/elipcs/grading-is-easy-feedback-is-hard</a:t>
            </a:r>
          </a:p>
          <a:p>
            <a:pPr>
              <a:lnSpc>
                <a:spcPct val="150000"/>
              </a:lnSpc>
            </a:pPr>
            <a:r>
              <a:rPr sz="1100" b="0" i="0">
                <a:solidFill>
                  <a:srgbClr val="82838A"/>
                </a:solidFill>
                <a:latin typeface="Public Sans"/>
              </a:rPr>
              <a:t>DOI 10.5281/zenodo.21385431  .  License CC BY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WHY THIS ARTIFACT EXISTS</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542" b="0" i="0">
                <a:solidFill>
                  <a:srgbClr val="2B2C30"/>
                </a:solidFill>
                <a:latin typeface="Courier New"/>
              </a:rPr>
              <a:t>In a design-oriented OOP assignment, correctness and design do not</a:t>
            </a:r>
          </a:p>
          <a:p>
            <a:pPr algn="l">
              <a:lnSpc>
                <a:spcPct val="118000"/>
              </a:lnSpc>
            </a:pPr>
            <a:r>
              <a:rPr sz="1542" b="0" i="0">
                <a:solidFill>
                  <a:srgbClr val="2B2C30"/>
                </a:solidFill>
                <a:latin typeface="Courier New"/>
              </a:rPr>
              <a:t>always agree:</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  submission A   every feature works   -&gt;  one 400-line class,</a:t>
            </a:r>
          </a:p>
          <a:p>
            <a:pPr algn="l">
              <a:lnSpc>
                <a:spcPct val="118000"/>
              </a:lnSpc>
            </a:pPr>
            <a:r>
              <a:rPr sz="1542" b="0" i="0">
                <a:solidFill>
                  <a:srgbClr val="2B2C30"/>
                </a:solidFill>
                <a:latin typeface="Courier New"/>
              </a:rPr>
              <a:t>                                            no domain objects</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  submission B   one off-by-one bug    -&gt;  clean class modeling,</a:t>
            </a:r>
          </a:p>
          <a:p>
            <a:pPr algn="l">
              <a:lnSpc>
                <a:spcPct val="118000"/>
              </a:lnSpc>
            </a:pPr>
            <a:r>
              <a:rPr sz="1542" b="0" i="0">
                <a:solidFill>
                  <a:srgbClr val="2B2C30"/>
                </a:solidFill>
                <a:latin typeface="Courier New"/>
              </a:rPr>
              <a:t>                                            responsibilities split</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Unit tests and static analysis rank A above B. An instructor does not.</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So this kind of assessment stays manual:</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  84 submissions  x  7 rubric criteria  x  written feedback</a:t>
            </a:r>
          </a:p>
          <a:p>
            <a:pPr algn="l">
              <a:lnSpc>
                <a:spcPct val="118000"/>
              </a:lnSpc>
            </a:pPr>
            <a:r>
              <a:rPr sz="1542" b="0" i="0">
                <a:solidFill>
                  <a:srgbClr val="2B2C30"/>
                </a:solidFill>
                <a:latin typeface="Courier New"/>
              </a:rPr>
              <a:t>  graded by 28 teaching assistants, 1 to 6 submissions each</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Can an LLM help here?  And how would we measure "help" at all?</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WHAT IS INSIDE THE ARTIFACT</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600" b="0" i="0">
                <a:solidFill>
                  <a:srgbClr val="2B2C30"/>
                </a:solidFill>
                <a:latin typeface="Courier New"/>
              </a:rPr>
              <a:t>.</a:t>
            </a:r>
          </a:p>
          <a:p>
            <a:pPr algn="l">
              <a:lnSpc>
                <a:spcPct val="118000"/>
              </a:lnSpc>
            </a:pPr>
            <a:r>
              <a:rPr sz="1600" b="0" i="0">
                <a:solidFill>
                  <a:srgbClr val="2B2C30"/>
                </a:solidFill>
                <a:latin typeface="Courier New"/>
              </a:rPr>
              <a:t>|-- src/prompt/            8 files     the grading protocol itself</a:t>
            </a:r>
          </a:p>
          <a:p>
            <a:pPr algn="l">
              <a:lnSpc>
                <a:spcPct val="118000"/>
              </a:lnSpc>
            </a:pPr>
            <a:r>
              <a:rPr sz="1600" b="0" i="0">
                <a:solidFill>
                  <a:srgbClr val="2B2C30"/>
                </a:solidFill>
                <a:latin typeface="Courier New"/>
              </a:rPr>
              <a:t>|-- src/pipeline/         18 scripts   render, run, validate, analyse</a:t>
            </a:r>
          </a:p>
          <a:p>
            <a:pPr algn="l">
              <a:lnSpc>
                <a:spcPct val="118000"/>
              </a:lnSpc>
            </a:pPr>
            <a:r>
              <a:rPr sz="1600" b="0" i="0">
                <a:solidFill>
                  <a:srgbClr val="2B2C30"/>
                </a:solidFill>
                <a:latin typeface="Courier New"/>
              </a:rPr>
              <a:t>|-- src/workflows/         5 scripts   stage orchestration</a:t>
            </a:r>
          </a:p>
          <a:p>
            <a:pPr algn="l">
              <a:lnSpc>
                <a:spcPct val="118000"/>
              </a:lnSpc>
            </a:pPr>
            <a:r>
              <a:rPr sz="1600" b="0" i="0">
                <a:solidFill>
                  <a:srgbClr val="2B2C30"/>
                </a:solidFill>
                <a:latin typeface="Courier New"/>
              </a:rPr>
              <a:t>|-- src/reproduce.py       1 command   the whole paper, no API keys</a:t>
            </a:r>
          </a:p>
          <a:p>
            <a:pPr algn="l">
              <a:lnSpc>
                <a:spcPct val="118000"/>
              </a:lnSpc>
            </a:pPr>
            <a:r>
              <a:rPr sz="1600" b="0" i="0">
                <a:solidFill>
                  <a:srgbClr val="2B2C30"/>
                </a:solidFill>
                <a:latin typeface="Courier New"/>
              </a:rPr>
              <a:t>|-- data/lab03-filmnow/</a:t>
            </a:r>
          </a:p>
          <a:p>
            <a:pPr algn="l">
              <a:lnSpc>
                <a:spcPct val="118000"/>
              </a:lnSpc>
            </a:pPr>
            <a:r>
              <a:rPr sz="1600" b="0" i="0">
                <a:solidFill>
                  <a:srgbClr val="2B2C30"/>
                </a:solidFill>
                <a:latin typeface="Courier New"/>
              </a:rPr>
              <a:t>|   |-- runs/              6 runs      2 models x 3 repetitions</a:t>
            </a:r>
          </a:p>
          <a:p>
            <a:pPr algn="l">
              <a:lnSpc>
                <a:spcPct val="118000"/>
              </a:lnSpc>
            </a:pPr>
            <a:r>
              <a:rPr sz="1600" b="0" i="0">
                <a:solidFill>
                  <a:srgbClr val="2B2C30"/>
                </a:solidFill>
                <a:latin typeface="Courier New"/>
              </a:rPr>
              <a:t>|   |     inputs/          84 anonymized Java submissions + rubric</a:t>
            </a:r>
          </a:p>
          <a:p>
            <a:pPr algn="l">
              <a:lnSpc>
                <a:spcPct val="118000"/>
              </a:lnSpc>
            </a:pPr>
            <a:r>
              <a:rPr sz="1600" b="0" i="0">
                <a:solidFill>
                  <a:srgbClr val="2B2C30"/>
                </a:solidFill>
                <a:latin typeface="Courier New"/>
              </a:rPr>
              <a:t>|   |     prompts/         1008 rendered prompts, the exact bytes sent</a:t>
            </a:r>
          </a:p>
          <a:p>
            <a:pPr algn="l">
              <a:lnSpc>
                <a:spcPct val="118000"/>
              </a:lnSpc>
            </a:pPr>
            <a:r>
              <a:rPr sz="1600" b="0" i="0">
                <a:solidFill>
                  <a:srgbClr val="2B2C30"/>
                </a:solidFill>
                <a:latin typeface="Courier New"/>
              </a:rPr>
              <a:t>|   |     outputs/         504 LLM assessments + TA + expert reference</a:t>
            </a:r>
          </a:p>
          <a:p>
            <a:pPr algn="l">
              <a:lnSpc>
                <a:spcPct val="118000"/>
              </a:lnSpc>
            </a:pPr>
            <a:r>
              <a:rPr sz="1600" b="0" i="0">
                <a:solidFill>
                  <a:srgbClr val="2B2C30"/>
                </a:solidFill>
                <a:latin typeface="Courier New"/>
              </a:rPr>
              <a:t>|   |     analyses/        per-run metrics + semantic-match caches</a:t>
            </a:r>
          </a:p>
          <a:p>
            <a:pPr algn="l">
              <a:lnSpc>
                <a:spcPct val="118000"/>
              </a:lnSpc>
            </a:pPr>
            <a:r>
              <a:rPr sz="1600" b="0" i="0">
                <a:solidFill>
                  <a:srgbClr val="2B2C30"/>
                </a:solidFill>
                <a:latin typeface="Courier New"/>
              </a:rPr>
              <a:t>|   |-- results/           benchmark, stability, by_category</a:t>
            </a:r>
          </a:p>
          <a:p>
            <a:pPr algn="l">
              <a:lnSpc>
                <a:spcPct val="118000"/>
              </a:lnSpc>
            </a:pPr>
            <a:r>
              <a:rPr sz="1600" b="0" i="0">
                <a:solidFill>
                  <a:srgbClr val="2B2C30"/>
                </a:solidFill>
                <a:latin typeface="Courier New"/>
              </a:rPr>
              <a:t>|   `-- study/             three-run manifests</a:t>
            </a:r>
          </a:p>
          <a:p>
            <a:pPr algn="l">
              <a:lnSpc>
                <a:spcPct val="118000"/>
              </a:lnSpc>
            </a:pPr>
            <a:r>
              <a:rPr sz="1600" b="0" i="0">
                <a:solidFill>
                  <a:srgbClr val="2B2C30"/>
                </a:solidFill>
                <a:latin typeface="Courier New"/>
              </a:rPr>
              <a:t>`-- docs/                  paper PDF, 13 figures, 13 tables, 3 TikZ</a:t>
            </a:r>
          </a:p>
          <a:p>
            <a:pPr algn="l">
              <a:lnSpc>
                <a:spcPct val="118000"/>
              </a:lnSpc>
            </a:pPr>
            <a:r>
              <a:rPr sz="1600" b="0" i="0">
                <a:solidFill>
                  <a:srgbClr val="2B2C30"/>
                </a:solidFill>
                <a:latin typeface="Courier New"/>
              </a:rPr>
              <a:t/>
            </a:r>
          </a:p>
          <a:p>
            <a:pPr algn="l">
              <a:lnSpc>
                <a:spcPct val="118000"/>
              </a:lnSpc>
            </a:pPr>
            <a:r>
              <a:rPr sz="1600" b="0" i="0">
                <a:solidFill>
                  <a:srgbClr val="2B2C30"/>
                </a:solidFill>
                <a:latin typeface="Courier New"/>
              </a:rPr>
              <a:t>~10k lines of Python  .  132 MB of data  .  all of it regenerable</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THE PROMPT (1/3): TWO STAGES, ON PURPOSE</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971" b="0" i="0">
                <a:solidFill>
                  <a:srgbClr val="2B2C30"/>
                </a:solidFill>
                <a:latin typeface="Courier New"/>
              </a:rPr>
              <a:t>  assignment spec + official grading reference + starter scaffold</a:t>
            </a:r>
          </a:p>
          <a:p>
            <a:pPr algn="l">
              <a:lnSpc>
                <a:spcPct val="118000"/>
              </a:lnSpc>
            </a:pPr>
            <a:r>
              <a:rPr sz="971" b="0" i="0">
                <a:solidFill>
                  <a:srgbClr val="2B2C30"/>
                </a:solidFill>
                <a:latin typeface="Courier New"/>
              </a:rPr>
              <a:t>  + rubric.json + course principles + calibration examples</a:t>
            </a:r>
          </a:p>
          <a:p>
            <a:pPr algn="l">
              <a:lnSpc>
                <a:spcPct val="118000"/>
              </a:lnSpc>
            </a:pPr>
            <a:r>
              <a:rPr sz="971" b="0" i="0">
                <a:solidFill>
                  <a:srgbClr val="2B2C30"/>
                </a:solidFill>
                <a:latin typeface="Courier New"/>
              </a:rPr>
              <a:t>  + anonymized submission package</a:t>
            </a:r>
          </a:p>
          <a:p>
            <a:pPr algn="l">
              <a:lnSpc>
                <a:spcPct val="118000"/>
              </a:lnSpc>
            </a:pPr>
            <a:r>
              <a:rPr sz="971" b="0" i="0">
                <a:solidFill>
                  <a:srgbClr val="2B2C30"/>
                </a:solidFill>
                <a:latin typeface="Courier New"/>
              </a:rPr>
              <a:t>                         |</a:t>
            </a:r>
          </a:p>
          <a:p>
            <a:pPr algn="l">
              <a:lnSpc>
                <a:spcPct val="118000"/>
              </a:lnSpc>
            </a:pPr>
            <a:r>
              <a:rPr sz="971" b="0" i="0">
                <a:solidFill>
                  <a:srgbClr val="2B2C30"/>
                </a:solidFill>
                <a:latin typeface="Courier New"/>
              </a:rPr>
              <a:t>                         v</a:t>
            </a:r>
          </a:p>
          <a:p>
            <a:pPr algn="l">
              <a:lnSpc>
                <a:spcPct val="118000"/>
              </a:lnSpc>
            </a:pPr>
            <a:r>
              <a:rPr sz="971" b="0" i="0">
                <a:solidFill>
                  <a:srgbClr val="2B2C30"/>
                </a:solidFill>
                <a:latin typeface="Courier New"/>
              </a:rPr>
              <a:t>  +--------------------------------------+</a:t>
            </a:r>
          </a:p>
          <a:p>
            <a:pPr algn="l">
              <a:lnSpc>
                <a:spcPct val="118000"/>
              </a:lnSpc>
            </a:pPr>
            <a:r>
              <a:rPr sz="971" b="0" i="0">
                <a:solidFill>
                  <a:srgbClr val="2B2C30"/>
                </a:solidFill>
                <a:latin typeface="Courier New"/>
              </a:rPr>
              <a:t>  |  STAGE 1  -  SCORING                 |   "analytical scoring</a:t>
            </a:r>
          </a:p>
          <a:p>
            <a:pPr algn="l">
              <a:lnSpc>
                <a:spcPct val="118000"/>
              </a:lnSpc>
            </a:pPr>
            <a:r>
              <a:rPr sz="971" b="0" i="0">
                <a:solidFill>
                  <a:srgbClr val="2B2C30"/>
                </a:solidFill>
                <a:latin typeface="Courier New"/>
              </a:rPr>
              <a:t>  |    per rubric criterion:             |    only, no student-</a:t>
            </a:r>
          </a:p>
          <a:p>
            <a:pPr algn="l">
              <a:lnSpc>
                <a:spcPct val="118000"/>
              </a:lnSpc>
            </a:pPr>
            <a:r>
              <a:rPr sz="971" b="0" i="0">
                <a:solidFill>
                  <a:srgbClr val="2B2C30"/>
                </a:solidFill>
                <a:latin typeface="Courier New"/>
              </a:rPr>
              <a:t>  |      score / max_score               |    facing prose here"</a:t>
            </a:r>
          </a:p>
          <a:p>
            <a:pPr algn="l">
              <a:lnSpc>
                <a:spcPct val="118000"/>
              </a:lnSpc>
            </a:pPr>
            <a:r>
              <a:rPr sz="971" b="0" i="0">
                <a:solidFill>
                  <a:srgbClr val="2B2C30"/>
                </a:solidFill>
                <a:latin typeface="Courier New"/>
              </a:rPr>
              <a:t>  |      success_evidence[]              |</a:t>
            </a:r>
          </a:p>
          <a:p>
            <a:pPr algn="l">
              <a:lnSpc>
                <a:spcPct val="118000"/>
              </a:lnSpc>
            </a:pPr>
            <a:r>
              <a:rPr sz="971" b="0" i="0">
                <a:solidFill>
                  <a:srgbClr val="2B2C30"/>
                </a:solidFill>
                <a:latin typeface="Courier New"/>
              </a:rPr>
              <a:t>  |      non_penalized_observations[]    |</a:t>
            </a:r>
          </a:p>
          <a:p>
            <a:pPr algn="l">
              <a:lnSpc>
                <a:spcPct val="118000"/>
              </a:lnSpc>
            </a:pPr>
            <a:r>
              <a:rPr sz="971" b="0" i="0">
                <a:solidFill>
                  <a:srgbClr val="2B2C30"/>
                </a:solidFill>
                <a:latin typeface="Courier New"/>
              </a:rPr>
              <a:t>  |      deductions[]                    |</a:t>
            </a:r>
          </a:p>
          <a:p>
            <a:pPr algn="l">
              <a:lnSpc>
                <a:spcPct val="118000"/>
              </a:lnSpc>
            </a:pPr>
            <a:r>
              <a:rPr sz="971" b="0" i="0">
                <a:solidFill>
                  <a:srgbClr val="2B2C30"/>
                </a:solidFill>
                <a:latin typeface="Courier New"/>
              </a:rPr>
              <a:t>  |        points_lost, severity,        |</a:t>
            </a:r>
          </a:p>
          <a:p>
            <a:pPr algn="l">
              <a:lnSpc>
                <a:spcPct val="118000"/>
              </a:lnSpc>
            </a:pPr>
            <a:r>
              <a:rPr sz="971" b="0" i="0">
                <a:solidFill>
                  <a:srgbClr val="2B2C30"/>
                </a:solidFill>
                <a:latin typeface="Courier New"/>
              </a:rPr>
              <a:t>  |        confidence, rubric_anchor,    |</a:t>
            </a:r>
          </a:p>
          <a:p>
            <a:pPr algn="l">
              <a:lnSpc>
                <a:spcPct val="118000"/>
              </a:lnSpc>
            </a:pPr>
            <a:r>
              <a:rPr sz="971" b="0" i="0">
                <a:solidFill>
                  <a:srgbClr val="2B2C30"/>
                </a:solidFill>
                <a:latin typeface="Courier New"/>
              </a:rPr>
              <a:t>  |        problem, consequence,         |</a:t>
            </a:r>
          </a:p>
          <a:p>
            <a:pPr algn="l">
              <a:lnSpc>
                <a:spcPct val="118000"/>
              </a:lnSpc>
            </a:pPr>
            <a:r>
              <a:rPr sz="971" b="0" i="0">
                <a:solidFill>
                  <a:srgbClr val="2B2C30"/>
                </a:solidFill>
                <a:latin typeface="Courier New"/>
              </a:rPr>
              <a:t>  |        how_to_fix, evidence_refs     |</a:t>
            </a:r>
          </a:p>
          <a:p>
            <a:pPr algn="l">
              <a:lnSpc>
                <a:spcPct val="118000"/>
              </a:lnSpc>
            </a:pPr>
            <a:r>
              <a:rPr sz="971" b="0" i="0">
                <a:solidFill>
                  <a:srgbClr val="2B2C30"/>
                </a:solidFill>
                <a:latin typeface="Courier New"/>
              </a:rPr>
              <a:t>  |    reviewer_audit                    |</a:t>
            </a:r>
          </a:p>
          <a:p>
            <a:pPr algn="l">
              <a:lnSpc>
                <a:spcPct val="118000"/>
              </a:lnSpc>
            </a:pPr>
            <a:r>
              <a:rPr sz="971" b="0" i="0">
                <a:solidFill>
                  <a:srgbClr val="2B2C30"/>
                </a:solidFill>
                <a:latin typeface="Courier New"/>
              </a:rPr>
              <a:t>  +--------------------------------------+</a:t>
            </a:r>
          </a:p>
          <a:p>
            <a:pPr algn="l">
              <a:lnSpc>
                <a:spcPct val="118000"/>
              </a:lnSpc>
            </a:pPr>
            <a:r>
              <a:rPr sz="971" b="0" i="0">
                <a:solidFill>
                  <a:srgbClr val="2B2C30"/>
                </a:solidFill>
                <a:latin typeface="Courier New"/>
              </a:rPr>
              <a:t>                         |  validated JSON</a:t>
            </a:r>
          </a:p>
          <a:p>
            <a:pPr algn="l">
              <a:lnSpc>
                <a:spcPct val="118000"/>
              </a:lnSpc>
            </a:pPr>
            <a:r>
              <a:rPr sz="971" b="0" i="0">
                <a:solidFill>
                  <a:srgbClr val="2B2C30"/>
                </a:solidFill>
                <a:latin typeface="Courier New"/>
              </a:rPr>
              <a:t>                         v</a:t>
            </a:r>
          </a:p>
          <a:p>
            <a:pPr algn="l">
              <a:lnSpc>
                <a:spcPct val="118000"/>
              </a:lnSpc>
            </a:pPr>
            <a:r>
              <a:rPr sz="971" b="0" i="0">
                <a:solidFill>
                  <a:srgbClr val="2B2C30"/>
                </a:solidFill>
                <a:latin typeface="Courier New"/>
              </a:rPr>
              <a:t>  +--------------------------------------+</a:t>
            </a:r>
          </a:p>
          <a:p>
            <a:pPr algn="l">
              <a:lnSpc>
                <a:spcPct val="118000"/>
              </a:lnSpc>
            </a:pPr>
            <a:r>
              <a:rPr sz="971" b="0" i="0">
                <a:solidFill>
                  <a:srgbClr val="2B2C30"/>
                </a:solidFill>
                <a:latin typeface="Courier New"/>
              </a:rPr>
              <a:t>  |  STAGE 2  -  FEEDBACK                |   "do not re-grade and</a:t>
            </a:r>
          </a:p>
          <a:p>
            <a:pPr algn="l">
              <a:lnSpc>
                <a:spcPct val="118000"/>
              </a:lnSpc>
            </a:pPr>
            <a:r>
              <a:rPr sz="971" b="0" i="0">
                <a:solidFill>
                  <a:srgbClr val="2B2C30"/>
                </a:solidFill>
                <a:latin typeface="Courier New"/>
              </a:rPr>
              <a:t>  |    at most 6 high-confidence items   |    do not look for new</a:t>
            </a:r>
          </a:p>
          <a:p>
            <a:pPr algn="l">
              <a:lnSpc>
                <a:spcPct val="118000"/>
              </a:lnSpc>
            </a:pPr>
            <a:r>
              <a:rPr sz="971" b="0" i="0">
                <a:solidFill>
                  <a:srgbClr val="2B2C30"/>
                </a:solidFill>
                <a:latin typeface="Courier New"/>
              </a:rPr>
              <a:t>  |    student_feedback + reviewer_notes |    defects"</a:t>
            </a:r>
          </a:p>
          <a:p>
            <a:pPr algn="l">
              <a:lnSpc>
                <a:spcPct val="118000"/>
              </a:lnSpc>
            </a:pPr>
            <a:r>
              <a:rPr sz="971" b="0" i="0">
                <a:solidFill>
                  <a:srgbClr val="2B2C30"/>
                </a:solidFill>
                <a:latin typeface="Courier New"/>
              </a:rPr>
              <a:t>  +--------------------------------------+</a:t>
            </a:r>
          </a:p>
          <a:p>
            <a:pPr algn="l">
              <a:lnSpc>
                <a:spcPct val="118000"/>
              </a:lnSpc>
            </a:pPr>
            <a:r>
              <a:rPr sz="971" b="0" i="0">
                <a:solidFill>
                  <a:srgbClr val="2B2C30"/>
                </a:solidFill>
                <a:latin typeface="Courier New"/>
              </a:rPr>
              <a:t/>
            </a:r>
          </a:p>
          <a:p>
            <a:pPr algn="l">
              <a:lnSpc>
                <a:spcPct val="118000"/>
              </a:lnSpc>
            </a:pPr>
            <a:r>
              <a:rPr sz="971" b="0" i="0">
                <a:solidFill>
                  <a:srgbClr val="2B2C30"/>
                </a:solidFill>
                <a:latin typeface="Courier New"/>
              </a:rPr>
              <a:t>prompt_version v13-two-stage  .  temperature 0  .  high reasoning effort</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THE PROMPT (2/3): DYNAMIC INJECTION</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971" b="0" i="0">
                <a:solidFill>
                  <a:srgbClr val="2B2C30"/>
                </a:solidFill>
                <a:latin typeface="Courier New"/>
              </a:rPr>
              <a:t>Nothing in src/prompt/ is a finished prompt. Every file is a template</a:t>
            </a:r>
          </a:p>
          <a:p>
            <a:pPr algn="l">
              <a:lnSpc>
                <a:spcPct val="118000"/>
              </a:lnSpc>
            </a:pPr>
            <a:r>
              <a:rPr sz="971" b="0" i="0">
                <a:solidFill>
                  <a:srgbClr val="2B2C30"/>
                </a:solidFill>
                <a:latin typeface="Courier New"/>
              </a:rPr>
              <a:t>with {{PLACEHOLDER}} slots, filled at two distinct moments.</a:t>
            </a:r>
          </a:p>
          <a:p>
            <a:pPr algn="l">
              <a:lnSpc>
                <a:spcPct val="118000"/>
              </a:lnSpc>
            </a:pPr>
            <a:r>
              <a:rPr sz="971" b="0" i="0">
                <a:solidFill>
                  <a:srgbClr val="2B2C30"/>
                </a:solidFill>
                <a:latin typeface="Courier New"/>
              </a:rPr>
              <a:t/>
            </a:r>
          </a:p>
          <a:p>
            <a:pPr algn="l">
              <a:lnSpc>
                <a:spcPct val="118000"/>
              </a:lnSpc>
            </a:pPr>
            <a:r>
              <a:rPr sz="971" b="0" i="0">
                <a:solidFill>
                  <a:srgbClr val="2B2C30"/>
                </a:solidFill>
                <a:latin typeface="Courier New"/>
              </a:rPr>
              <a:t>BUILD TIME  --  src/pipeline/02_render_prompts.py</a:t>
            </a:r>
          </a:p>
          <a:p>
            <a:pPr algn="l">
              <a:lnSpc>
                <a:spcPct val="118000"/>
              </a:lnSpc>
            </a:pPr>
            <a:r>
              <a:rPr sz="971" b="0" i="0">
                <a:solidFill>
                  <a:srgbClr val="2B2C30"/>
                </a:solidFill>
                <a:latin typeface="Courier New"/>
              </a:rPr>
              <a:t>  {{EXPERIMENT_METADATA}}       per-submission JSON: id, role,</a:t>
            </a:r>
          </a:p>
          <a:p>
            <a:pPr algn="l">
              <a:lnSpc>
                <a:spcPct val="118000"/>
              </a:lnSpc>
            </a:pPr>
            <a:r>
              <a:rPr sz="971" b="0" i="0">
                <a:solidFill>
                  <a:srgbClr val="2B2C30"/>
                </a:solidFill>
                <a:latin typeface="Courier New"/>
              </a:rPr>
              <a:t>                                provider, model, temperature,</a:t>
            </a:r>
          </a:p>
          <a:p>
            <a:pPr algn="l">
              <a:lnSpc>
                <a:spcPct val="118000"/>
              </a:lnSpc>
            </a:pPr>
            <a:r>
              <a:rPr sz="971" b="0" i="0">
                <a:solidFill>
                  <a:srgbClr val="2B2C30"/>
                </a:solidFill>
                <a:latin typeface="Courier New"/>
              </a:rPr>
              <a:t>                                reasoning_effort, prompt_version</a:t>
            </a:r>
          </a:p>
          <a:p>
            <a:pPr algn="l">
              <a:lnSpc>
                <a:spcPct val="118000"/>
              </a:lnSpc>
            </a:pPr>
            <a:r>
              <a:rPr sz="971" b="0" i="0">
                <a:solidFill>
                  <a:srgbClr val="2B2C30"/>
                </a:solidFill>
                <a:latin typeface="Courier New"/>
              </a:rPr>
              <a:t>  {{LAB_SPEC_TEXT}}             &lt;- assignment/lab_specification.md</a:t>
            </a:r>
          </a:p>
          <a:p>
            <a:pPr algn="l">
              <a:lnSpc>
                <a:spcPct val="118000"/>
              </a:lnSpc>
            </a:pPr>
            <a:r>
              <a:rPr sz="971" b="0" i="0">
                <a:solidFill>
                  <a:srgbClr val="2B2C30"/>
                </a:solidFill>
                <a:latin typeface="Courier New"/>
              </a:rPr>
              <a:t>  {{GRADING_SHEET_TEXT}}        &lt;- assignment/grading_reference.md</a:t>
            </a:r>
          </a:p>
          <a:p>
            <a:pPr algn="l">
              <a:lnSpc>
                <a:spcPct val="118000"/>
              </a:lnSpc>
            </a:pPr>
            <a:r>
              <a:rPr sz="971" b="0" i="0">
                <a:solidFill>
                  <a:srgbClr val="2B2C30"/>
                </a:solidFill>
                <a:latin typeface="Courier New"/>
              </a:rPr>
              <a:t>  {{STARTER_SCAFFOLD_TEXT}}     &lt;- assignment/starter_scaffold.md</a:t>
            </a:r>
          </a:p>
          <a:p>
            <a:pPr algn="l">
              <a:lnSpc>
                <a:spcPct val="118000"/>
              </a:lnSpc>
            </a:pPr>
            <a:r>
              <a:rPr sz="971" b="0" i="0">
                <a:solidFill>
                  <a:srgbClr val="2B2C30"/>
                </a:solidFill>
                <a:latin typeface="Courier New"/>
              </a:rPr>
              <a:t>  {{RUBRIC_JSON}}               &lt;- rubric.json, gated rubric_ready</a:t>
            </a:r>
          </a:p>
          <a:p>
            <a:pPr algn="l">
              <a:lnSpc>
                <a:spcPct val="118000"/>
              </a:lnSpc>
            </a:pPr>
            <a:r>
              <a:rPr sz="971" b="0" i="0">
                <a:solidFill>
                  <a:srgbClr val="2B2C30"/>
                </a:solidFill>
                <a:latin typeface="Courier New"/>
              </a:rPr>
              <a:t>  {{CORE_EVALUATION_TEXT}}      &lt;- evaluation_principles.md</a:t>
            </a:r>
          </a:p>
          <a:p>
            <a:pPr algn="l">
              <a:lnSpc>
                <a:spcPct val="118000"/>
              </a:lnSpc>
            </a:pPr>
            <a:r>
              <a:rPr sz="971" b="0" i="0">
                <a:solidFill>
                  <a:srgbClr val="2B2C30"/>
                </a:solidFill>
                <a:latin typeface="Courier New"/>
              </a:rPr>
              <a:t>  {{ABSTRACT_CALIBRATION_TEXT}} &lt;- abstract_calibration.md</a:t>
            </a:r>
          </a:p>
          <a:p>
            <a:pPr algn="l">
              <a:lnSpc>
                <a:spcPct val="118000"/>
              </a:lnSpc>
            </a:pPr>
            <a:r>
              <a:rPr sz="971" b="0" i="0">
                <a:solidFill>
                  <a:srgbClr val="2B2C30"/>
                </a:solidFill>
                <a:latin typeface="Courier New"/>
              </a:rPr>
              <a:t>  {{COMMENT_STYLE_TEXT}}        &lt;- feedback_style_guide.md  (st.2)</a:t>
            </a:r>
          </a:p>
          <a:p>
            <a:pPr algn="l">
              <a:lnSpc>
                <a:spcPct val="118000"/>
              </a:lnSpc>
            </a:pPr>
            <a:r>
              <a:rPr sz="971" b="0" i="0">
                <a:solidFill>
                  <a:srgbClr val="2B2C30"/>
                </a:solidFill>
                <a:latin typeface="Courier New"/>
              </a:rPr>
              <a:t>  {{SUBMISSION_PACKAGE}}        &lt;- submissions/S17.md</a:t>
            </a:r>
          </a:p>
          <a:p>
            <a:pPr algn="l">
              <a:lnSpc>
                <a:spcPct val="118000"/>
              </a:lnSpc>
            </a:pPr>
            <a:r>
              <a:rPr sz="971" b="0" i="0">
                <a:solidFill>
                  <a:srgbClr val="2B2C30"/>
                </a:solidFill>
                <a:latin typeface="Courier New"/>
              </a:rPr>
              <a:t>  {{OUTPUT_SCHEMA_JSON}}        &lt;- schema_stage{1,2}.json</a:t>
            </a:r>
          </a:p>
          <a:p>
            <a:pPr algn="l">
              <a:lnSpc>
                <a:spcPct val="118000"/>
              </a:lnSpc>
            </a:pPr>
            <a:r>
              <a:rPr sz="971" b="0" i="0">
                <a:solidFill>
                  <a:srgbClr val="2B2C30"/>
                </a:solidFill>
                <a:latin typeface="Courier New"/>
              </a:rPr>
              <a:t/>
            </a:r>
          </a:p>
          <a:p>
            <a:pPr algn="l">
              <a:lnSpc>
                <a:spcPct val="118000"/>
              </a:lnSpc>
            </a:pPr>
            <a:r>
              <a:rPr sz="971" b="0" i="0">
                <a:solidFill>
                  <a:srgbClr val="2B2C30"/>
                </a:solidFill>
                <a:latin typeface="Courier New"/>
              </a:rPr>
              <a:t>RUN TIME  --  src/pipeline/utils/llm_execution.py</a:t>
            </a:r>
          </a:p>
          <a:p>
            <a:pPr algn="l">
              <a:lnSpc>
                <a:spcPct val="118000"/>
              </a:lnSpc>
            </a:pPr>
            <a:r>
              <a:rPr sz="971" b="0" i="0">
                <a:solidFill>
                  <a:srgbClr val="2B2C30"/>
                </a:solidFill>
                <a:latin typeface="Courier New"/>
              </a:rPr>
              <a:t>  {{STAGE1_JSON}}   left UNRESOLVED on disk on purpose, then swapped</a:t>
            </a:r>
          </a:p>
          <a:p>
            <a:pPr algn="l">
              <a:lnSpc>
                <a:spcPct val="118000"/>
              </a:lnSpc>
            </a:pPr>
            <a:r>
              <a:rPr sz="971" b="0" i="0">
                <a:solidFill>
                  <a:srgbClr val="2B2C30"/>
                </a:solidFill>
                <a:latin typeface="Courier New"/>
              </a:rPr>
              <a:t>                    at call time for the parsed, re-serialized</a:t>
            </a:r>
          </a:p>
          <a:p>
            <a:pPr algn="l">
              <a:lnSpc>
                <a:spcPct val="118000"/>
              </a:lnSpc>
            </a:pPr>
            <a:r>
              <a:rPr sz="971" b="0" i="0">
                <a:solidFill>
                  <a:srgbClr val="2B2C30"/>
                </a:solidFill>
                <a:latin typeface="Courier New"/>
              </a:rPr>
              <a:t>                    stage 1 response</a:t>
            </a:r>
          </a:p>
          <a:p>
            <a:pPr algn="l">
              <a:lnSpc>
                <a:spcPct val="118000"/>
              </a:lnSpc>
            </a:pPr>
            <a:r>
              <a:rPr sz="971" b="0" i="0">
                <a:solidFill>
                  <a:srgbClr val="2B2C30"/>
                </a:solidFill>
                <a:latin typeface="Courier New"/>
              </a:rPr>
              <a:t/>
            </a:r>
          </a:p>
          <a:p>
            <a:pPr algn="l">
              <a:lnSpc>
                <a:spcPct val="118000"/>
              </a:lnSpc>
            </a:pPr>
            <a:r>
              <a:rPr sz="971" b="0" i="0">
                <a:solidFill>
                  <a:srgbClr val="2B2C30"/>
                </a:solidFill>
                <a:latin typeface="Courier New"/>
              </a:rPr>
              <a:t>  stage 1:  9 slots resolved   136-line template  -&gt;  1753 lines</a:t>
            </a:r>
          </a:p>
          <a:p>
            <a:pPr algn="l">
              <a:lnSpc>
                <a:spcPct val="118000"/>
              </a:lnSpc>
            </a:pPr>
            <a:r>
              <a:rPr sz="971" b="0" i="0">
                <a:solidFill>
                  <a:srgbClr val="2B2C30"/>
                </a:solidFill>
                <a:latin typeface="Courier New"/>
              </a:rPr>
              <a:t>  stage 2:  1 slot left open   grep the shipped file, it is there</a:t>
            </a:r>
          </a:p>
          <a:p>
            <a:pPr algn="l">
              <a:lnSpc>
                <a:spcPct val="118000"/>
              </a:lnSpc>
            </a:pPr>
            <a:r>
              <a:rPr sz="971" b="0" i="0">
                <a:solidFill>
                  <a:srgbClr val="2B2C30"/>
                </a:solidFill>
                <a:latin typeface="Courier New"/>
              </a:rPr>
              <a:t/>
            </a:r>
          </a:p>
          <a:p>
            <a:pPr algn="l">
              <a:lnSpc>
                <a:spcPct val="118000"/>
              </a:lnSpc>
            </a:pPr>
            <a:r>
              <a:rPr sz="971" b="0" i="0">
                <a:solidFill>
                  <a:srgbClr val="2B2C30"/>
                </a:solidFill>
                <a:latin typeface="Courier New"/>
              </a:rPr>
              <a:t>So stage 2 never sees raw model prose, only re-parsed JSON - and the</a:t>
            </a:r>
          </a:p>
          <a:p>
            <a:pPr algn="l">
              <a:lnSpc>
                <a:spcPct val="118000"/>
              </a:lnSpc>
            </a:pPr>
            <a:r>
              <a:rPr sz="971" b="0" i="0">
                <a:solidFill>
                  <a:srgbClr val="2B2C30"/>
                </a:solidFill>
                <a:latin typeface="Courier New"/>
              </a:rPr>
              <a:t>1008 rendered files are the audit trail of what we actually sent.</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THE PROMPT (3/3): THE GUARDRAILS</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380" b="0" i="0">
                <a:solidFill>
                  <a:srgbClr val="2B2C30"/>
                </a:solidFill>
                <a:latin typeface="Courier New"/>
              </a:rPr>
              <a:t>src/prompt/</a:t>
            </a:r>
          </a:p>
          <a:p>
            <a:pPr algn="l">
              <a:lnSpc>
                <a:spcPct val="118000"/>
              </a:lnSpc>
            </a:pPr>
            <a:r>
              <a:rPr sz="1380" b="0" i="0">
                <a:solidFill>
                  <a:srgbClr val="2B2C30"/>
                </a:solidFill>
                <a:latin typeface="Courier New"/>
              </a:rPr>
              <a:t>  template_stage1.md          mandatory 7-step scoring procedure</a:t>
            </a:r>
          </a:p>
          <a:p>
            <a:pPr algn="l">
              <a:lnSpc>
                <a:spcPct val="118000"/>
              </a:lnSpc>
            </a:pPr>
            <a:r>
              <a:rPr sz="1380" b="0" i="0">
                <a:solidFill>
                  <a:srgbClr val="2B2C30"/>
                </a:solidFill>
                <a:latin typeface="Courier New"/>
              </a:rPr>
              <a:t>  template_stage2.md          feedback + reviewer-safety rules</a:t>
            </a:r>
          </a:p>
          <a:p>
            <a:pPr algn="l">
              <a:lnSpc>
                <a:spcPct val="118000"/>
              </a:lnSpc>
            </a:pPr>
            <a:r>
              <a:rPr sz="1380" b="0" i="0">
                <a:solidFill>
                  <a:srgbClr val="2B2C30"/>
                </a:solidFill>
                <a:latin typeface="Courier New"/>
              </a:rPr>
              <a:t>  evaluation_principles.md    course-level grading philosophy</a:t>
            </a:r>
          </a:p>
          <a:p>
            <a:pPr algn="l">
              <a:lnSpc>
                <a:spcPct val="118000"/>
              </a:lnSpc>
            </a:pPr>
            <a:r>
              <a:rPr sz="1380" b="0" i="0">
                <a:solidFill>
                  <a:srgbClr val="2B2C30"/>
                </a:solidFill>
                <a:latin typeface="Courier New"/>
              </a:rPr>
              <a:t>  abstract_calibration.md     worked decision examples</a:t>
            </a:r>
          </a:p>
          <a:p>
            <a:pPr algn="l">
              <a:lnSpc>
                <a:spcPct val="118000"/>
              </a:lnSpc>
            </a:pPr>
            <a:r>
              <a:rPr sz="1380" b="0" i="0">
                <a:solidFill>
                  <a:srgbClr val="2B2C30"/>
                </a:solidFill>
                <a:latin typeface="Courier New"/>
              </a:rPr>
              <a:t>  feedback_style_guide.md     tone, structure, jargon rules</a:t>
            </a:r>
          </a:p>
          <a:p>
            <a:pPr algn="l">
              <a:lnSpc>
                <a:spcPct val="118000"/>
              </a:lnSpc>
            </a:pPr>
            <a:r>
              <a:rPr sz="1380" b="0" i="0">
                <a:solidFill>
                  <a:srgbClr val="2B2C30"/>
                </a:solidFill>
                <a:latin typeface="Courier New"/>
              </a:rPr>
              <a:t>  ta_operational_baseline.md  how the human baseline was produced</a:t>
            </a:r>
          </a:p>
          <a:p>
            <a:pPr algn="l">
              <a:lnSpc>
                <a:spcPct val="118000"/>
              </a:lnSpc>
            </a:pPr>
            <a:r>
              <a:rPr sz="1380" b="0" i="0">
                <a:solidFill>
                  <a:srgbClr val="2B2C30"/>
                </a:solidFill>
                <a:latin typeface="Courier New"/>
              </a:rPr>
              <a:t>  schema_stage1.json          149-line JSON contract</a:t>
            </a:r>
          </a:p>
          <a:p>
            <a:pPr algn="l">
              <a:lnSpc>
                <a:spcPct val="118000"/>
              </a:lnSpc>
            </a:pPr>
            <a:r>
              <a:rPr sz="1380" b="0" i="0">
                <a:solidFill>
                  <a:srgbClr val="2B2C30"/>
                </a:solidFill>
                <a:latin typeface="Courier New"/>
              </a:rPr>
              <a:t>  schema_stage2.json           84-line JSON contract</a:t>
            </a:r>
          </a:p>
          <a:p>
            <a:pPr algn="l">
              <a:lnSpc>
                <a:spcPct val="118000"/>
              </a:lnSpc>
            </a:pPr>
            <a:r>
              <a:rPr sz="1380" b="0" i="0">
                <a:solidFill>
                  <a:srgbClr val="2B2C30"/>
                </a:solidFill>
                <a:latin typeface="Courier New"/>
              </a:rPr>
              <a:t/>
            </a:r>
          </a:p>
          <a:p>
            <a:pPr algn="l">
              <a:lnSpc>
                <a:spcPct val="118000"/>
              </a:lnSpc>
            </a:pPr>
            <a:r>
              <a:rPr sz="1380" b="0" i="0">
                <a:solidFill>
                  <a:srgbClr val="2B2C30"/>
                </a:solidFill>
                <a:latin typeface="Courier New"/>
              </a:rPr>
              <a:t>Rules that exist because the model misbehaved without them:</a:t>
            </a:r>
          </a:p>
          <a:p>
            <a:pPr algn="l">
              <a:lnSpc>
                <a:spcPct val="118000"/>
              </a:lnSpc>
            </a:pPr>
            <a:r>
              <a:rPr sz="1380" b="0" i="0">
                <a:solidFill>
                  <a:srgbClr val="2B2C30"/>
                </a:solidFill>
                <a:latin typeface="Courier New"/>
              </a:rPr>
              <a:t/>
            </a:r>
          </a:p>
          <a:p>
            <a:pPr algn="l">
              <a:lnSpc>
                <a:spcPct val="118000"/>
              </a:lnSpc>
            </a:pPr>
            <a:r>
              <a:rPr sz="1380" b="0" i="0">
                <a:solidFill>
                  <a:srgbClr val="2B2C30"/>
                </a:solidFill>
                <a:latin typeface="Courier New"/>
              </a:rPr>
              <a:t>  "Do not convert optional improvements into point loss"</a:t>
            </a:r>
          </a:p>
          <a:p>
            <a:pPr algn="l">
              <a:lnSpc>
                <a:spcPct val="118000"/>
              </a:lnSpc>
            </a:pPr>
            <a:r>
              <a:rPr sz="1380" b="0" i="0">
                <a:solidFill>
                  <a:srgbClr val="2B2C30"/>
                </a:solidFill>
                <a:latin typeface="Courier New"/>
              </a:rPr>
              <a:t>      -&gt;  route them to non_penalized_observations[]</a:t>
            </a:r>
          </a:p>
          <a:p>
            <a:pPr algn="l">
              <a:lnSpc>
                <a:spcPct val="118000"/>
              </a:lnSpc>
            </a:pPr>
            <a:r>
              <a:rPr sz="1380" b="0" i="0">
                <a:solidFill>
                  <a:srgbClr val="2B2C30"/>
                </a:solidFill>
                <a:latin typeface="Courier New"/>
              </a:rPr>
              <a:t>  "Avoid double jeopardy: one root cause, one deduction"</a:t>
            </a:r>
          </a:p>
          <a:p>
            <a:pPr algn="l">
              <a:lnSpc>
                <a:spcPct val="118000"/>
              </a:lnSpc>
            </a:pPr>
            <a:r>
              <a:rPr sz="1380" b="0" i="0">
                <a:solidFill>
                  <a:srgbClr val="2B2C30"/>
                </a:solidFill>
                <a:latin typeface="Courier New"/>
              </a:rPr>
              <a:t>  "Do not penalize naming, formatting, casing or punctuation"</a:t>
            </a:r>
          </a:p>
          <a:p>
            <a:pPr algn="l">
              <a:lnSpc>
                <a:spcPct val="118000"/>
              </a:lnSpc>
            </a:pPr>
            <a:r>
              <a:rPr sz="1380" b="0" i="0">
                <a:solidFill>
                  <a:srgbClr val="2B2C30"/>
                </a:solidFill>
                <a:latin typeface="Courier New"/>
              </a:rPr>
              <a:t>  "minor .25-1.0 | moderate 1.0-2.5 | major 2.5-5 | blocking 5-10"</a:t>
            </a:r>
          </a:p>
          <a:p>
            <a:pPr algn="l">
              <a:lnSpc>
                <a:spcPct val="118000"/>
              </a:lnSpc>
            </a:pPr>
            <a:r>
              <a:rPr sz="1380" b="0" i="0">
                <a:solidFill>
                  <a:srgbClr val="2B2C30"/>
                </a:solidFill>
                <a:latin typeface="Courier New"/>
              </a:rPr>
              <a:t>  "If confidence is low, omit it from student feedback and</a:t>
            </a:r>
          </a:p>
          <a:p>
            <a:pPr algn="l">
              <a:lnSpc>
                <a:spcPct val="118000"/>
              </a:lnSpc>
            </a:pPr>
            <a:r>
              <a:rPr sz="1380" b="0" i="0">
                <a:solidFill>
                  <a:srgbClr val="2B2C30"/>
                </a:solidFill>
                <a:latin typeface="Courier New"/>
              </a:rPr>
              <a:t>   record the omission in reviewer_notes"</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HOW THE STUDY WAS RUN</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380" b="0" i="0">
                <a:solidFill>
                  <a:srgbClr val="2B2C30"/>
                </a:solidFill>
                <a:latin typeface="Courier New"/>
              </a:rPr>
              <a:t>PHASE 1  -  INPUTS</a:t>
            </a:r>
          </a:p>
          <a:p>
            <a:pPr algn="l">
              <a:lnSpc>
                <a:spcPct val="118000"/>
              </a:lnSpc>
            </a:pPr>
            <a:r>
              <a:rPr sz="1380" b="0" i="0">
                <a:solidFill>
                  <a:srgbClr val="2B2C30"/>
                </a:solidFill>
                <a:latin typeface="Courier New"/>
              </a:rPr>
              <a:t>  84 Java submissions, anonymized: author lines masked, repository</a:t>
            </a:r>
          </a:p>
          <a:p>
            <a:pPr algn="l">
              <a:lnSpc>
                <a:spcPct val="118000"/>
              </a:lnSpc>
            </a:pPr>
            <a:r>
              <a:rPr sz="1380" b="0" i="0">
                <a:solidFill>
                  <a:srgbClr val="2B2C30"/>
                </a:solidFill>
                <a:latin typeface="Courier New"/>
              </a:rPr>
              <a:t>  names replaced, identifiers reduced to S01..S84</a:t>
            </a:r>
          </a:p>
          <a:p>
            <a:pPr algn="l">
              <a:lnSpc>
                <a:spcPct val="118000"/>
              </a:lnSpc>
            </a:pPr>
            <a:r>
              <a:rPr sz="1380" b="0" i="0">
                <a:solidFill>
                  <a:srgbClr val="2B2C30"/>
                </a:solidFill>
                <a:latin typeface="Courier New"/>
              </a:rPr>
              <a:t>  official rubric: 7 criteria, 0-10, core 60% / supporting 40%</a:t>
            </a:r>
          </a:p>
          <a:p>
            <a:pPr algn="l">
              <a:lnSpc>
                <a:spcPct val="118000"/>
              </a:lnSpc>
            </a:pPr>
            <a:r>
              <a:rPr sz="1380" b="0" i="0">
                <a:solidFill>
                  <a:srgbClr val="2B2C30"/>
                </a:solidFill>
                <a:latin typeface="Courier New"/>
              </a:rPr>
              <a:t/>
            </a:r>
          </a:p>
          <a:p>
            <a:pPr algn="l">
              <a:lnSpc>
                <a:spcPct val="118000"/>
              </a:lnSpc>
            </a:pPr>
            <a:r>
              <a:rPr sz="1380" b="0" i="0">
                <a:solidFill>
                  <a:srgbClr val="2B2C30"/>
                </a:solidFill>
                <a:latin typeface="Courier New"/>
              </a:rPr>
              <a:t>PHASE 2  -  EVALUATION</a:t>
            </a:r>
          </a:p>
          <a:p>
            <a:pPr algn="l">
              <a:lnSpc>
                <a:spcPct val="118000"/>
              </a:lnSpc>
            </a:pPr>
            <a:r>
              <a:rPr sz="1380" b="0" i="0">
                <a:solidFill>
                  <a:srgbClr val="2B2C30"/>
                </a:solidFill>
                <a:latin typeface="Courier New"/>
              </a:rPr>
              <a:t>  TA grades .......... the operational human baseline, 28 TAs</a:t>
            </a:r>
          </a:p>
          <a:p>
            <a:pPr algn="l">
              <a:lnSpc>
                <a:spcPct val="118000"/>
              </a:lnSpc>
            </a:pPr>
            <a:r>
              <a:rPr sz="1380" b="0" i="0">
                <a:solidFill>
                  <a:srgbClr val="2B2C30"/>
                </a:solidFill>
                <a:latin typeface="Courier New"/>
              </a:rPr>
              <a:t>  expert reference ... rubric scores + 361 annotated issues</a:t>
            </a:r>
          </a:p>
          <a:p>
            <a:pPr algn="l">
              <a:lnSpc>
                <a:spcPct val="118000"/>
              </a:lnSpc>
            </a:pPr>
            <a:r>
              <a:rPr sz="1380" b="0" i="0">
                <a:solidFill>
                  <a:srgbClr val="2B2C30"/>
                </a:solidFill>
                <a:latin typeface="Courier New"/>
              </a:rPr>
              <a:t>                       over a 12-category taxonomy</a:t>
            </a:r>
          </a:p>
          <a:p>
            <a:pPr algn="l">
              <a:lnSpc>
                <a:spcPct val="118000"/>
              </a:lnSpc>
            </a:pPr>
            <a:r>
              <a:rPr sz="1380" b="0" i="0">
                <a:solidFill>
                  <a:srgbClr val="2B2C30"/>
                </a:solidFill>
                <a:latin typeface="Courier New"/>
              </a:rPr>
              <a:t>  LLM assessments .... Gemini 3.1 Pro and GPT-5.5, stage 1 -&gt; 2,</a:t>
            </a:r>
          </a:p>
          <a:p>
            <a:pPr algn="l">
              <a:lnSpc>
                <a:spcPct val="118000"/>
              </a:lnSpc>
            </a:pPr>
            <a:r>
              <a:rPr sz="1380" b="0" i="0">
                <a:solidFill>
                  <a:srgbClr val="2B2C30"/>
                </a:solidFill>
                <a:latin typeface="Courier New"/>
              </a:rPr>
              <a:t>                       temperature 0, 3 runs each = 504 assessments</a:t>
            </a:r>
          </a:p>
          <a:p>
            <a:pPr algn="l">
              <a:lnSpc>
                <a:spcPct val="118000"/>
              </a:lnSpc>
            </a:pPr>
            <a:r>
              <a:rPr sz="1380" b="0" i="0">
                <a:solidFill>
                  <a:srgbClr val="2B2C30"/>
                </a:solidFill>
                <a:latin typeface="Courier New"/>
              </a:rPr>
              <a:t/>
            </a:r>
          </a:p>
          <a:p>
            <a:pPr algn="l">
              <a:lnSpc>
                <a:spcPct val="118000"/>
              </a:lnSpc>
            </a:pPr>
            <a:r>
              <a:rPr sz="1380" b="0" i="0">
                <a:solidFill>
                  <a:srgbClr val="2B2C30"/>
                </a:solidFill>
                <a:latin typeface="Courier New"/>
              </a:rPr>
              <a:t>PHASE 3  -  ANALYSIS</a:t>
            </a:r>
          </a:p>
          <a:p>
            <a:pPr algn="l">
              <a:lnSpc>
                <a:spcPct val="118000"/>
              </a:lnSpc>
            </a:pPr>
            <a:r>
              <a:rPr sz="1380" b="0" i="0">
                <a:solidFill>
                  <a:srgbClr val="2B2C30"/>
                </a:solidFill>
                <a:latin typeface="Courier New"/>
              </a:rPr>
              <a:t>  RQ1  grade concordance ... MAE, RMSE, bias, tolerance bands</a:t>
            </a:r>
          </a:p>
          <a:p>
            <a:pPr algn="l">
              <a:lnSpc>
                <a:spcPct val="118000"/>
              </a:lnSpc>
            </a:pPr>
            <a:r>
              <a:rPr sz="1380" b="0" i="0">
                <a:solidFill>
                  <a:srgbClr val="2B2C30"/>
                </a:solidFill>
                <a:latin typeface="Courier New"/>
              </a:rPr>
              <a:t>  RQ2  problem alignment ... precision, recall, F1</a:t>
            </a:r>
          </a:p>
          <a:p>
            <a:pPr algn="l">
              <a:lnSpc>
                <a:spcPct val="118000"/>
              </a:lnSpc>
            </a:pPr>
            <a:r>
              <a:rPr sz="1380" b="0" i="0">
                <a:solidFill>
                  <a:srgbClr val="2B2C30"/>
                </a:solidFill>
                <a:latin typeface="Courier New"/>
              </a:rPr>
              <a:t>  stability ................ ICC(2,1), run-pair MAE, exact agreement</a:t>
            </a:r>
          </a:p>
          <a:p>
            <a:pPr algn="l">
              <a:lnSpc>
                <a:spcPct val="118000"/>
              </a:lnSpc>
            </a:pPr>
            <a:r>
              <a:rPr sz="1380" b="0" i="0">
                <a:solidFill>
                  <a:srgbClr val="2B2C30"/>
                </a:solidFill>
                <a:latin typeface="Courier New"/>
              </a:rPr>
              <a:t/>
            </a:r>
          </a:p>
          <a:p>
            <a:pPr algn="l">
              <a:lnSpc>
                <a:spcPct val="118000"/>
              </a:lnSpc>
            </a:pPr>
            <a:r>
              <a:rPr sz="1380" b="0" i="0">
                <a:solidFill>
                  <a:srgbClr val="2B2C30"/>
                </a:solidFill>
                <a:latin typeface="Courier New"/>
              </a:rPr>
              <a:t>Each run directory is self-contained: experiment_config.json, inputs,</a:t>
            </a:r>
          </a:p>
          <a:p>
            <a:pPr algn="l">
              <a:lnSpc>
                <a:spcPct val="118000"/>
              </a:lnSpc>
            </a:pPr>
            <a:r>
              <a:rPr sz="1380" b="0" i="0">
                <a:solidFill>
                  <a:srgbClr val="2B2C30"/>
                </a:solidFill>
                <a:latin typeface="Courier New"/>
              </a:rPr>
              <a:t>the rendered prompt, raw parse, normalized output, validation report.</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THE HARD MEASUREMENT: IS IT THE SAME PROBLEM?</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456" b="0" i="0">
                <a:solidFill>
                  <a:srgbClr val="2B2C30"/>
                </a:solidFill>
                <a:latin typeface="Courier New"/>
              </a:rPr>
              <a:t>String equality fails. Taxonomy overlap is too generous.</a:t>
            </a:r>
          </a:p>
          <a:p>
            <a:pPr algn="l">
              <a:lnSpc>
                <a:spcPct val="118000"/>
              </a:lnSpc>
            </a:pPr>
            <a:r>
              <a:rPr sz="1456" b="0" i="0">
                <a:solidFill>
                  <a:srgbClr val="2B2C30"/>
                </a:solidFill>
                <a:latin typeface="Courier New"/>
              </a:rPr>
              <a:t/>
            </a:r>
          </a:p>
          <a:p>
            <a:pPr algn="l">
              <a:lnSpc>
                <a:spcPct val="118000"/>
              </a:lnSpc>
            </a:pPr>
            <a:r>
              <a:rPr sz="1456" b="0" i="0">
                <a:solidFill>
                  <a:srgbClr val="2B2C30"/>
                </a:solidFill>
                <a:latin typeface="Courier New"/>
              </a:rPr>
              <a:t>  expert  (S17, class_modeling)     model  (S17, class_modeling)</a:t>
            </a:r>
          </a:p>
          <a:p>
            <a:pPr algn="l">
              <a:lnSpc>
                <a:spcPct val="118000"/>
              </a:lnSpc>
            </a:pPr>
            <a:r>
              <a:rPr sz="1456" b="0" i="0">
                <a:solidFill>
                  <a:srgbClr val="2B2C30"/>
                </a:solidFill>
                <a:latin typeface="Courier New"/>
              </a:rPr>
              <a:t>  "Filme has no encapsulation,      "attributes of Filme are public,</a:t>
            </a:r>
          </a:p>
          <a:p>
            <a:pPr algn="l">
              <a:lnSpc>
                <a:spcPct val="118000"/>
              </a:lnSpc>
            </a:pPr>
            <a:r>
              <a:rPr sz="1456" b="0" i="0">
                <a:solidFill>
                  <a:srgbClr val="2B2C30"/>
                </a:solidFill>
                <a:latin typeface="Courier New"/>
              </a:rPr>
              <a:t>   attributes are public"            information hiding is broken"</a:t>
            </a:r>
          </a:p>
          <a:p>
            <a:pPr algn="l">
              <a:lnSpc>
                <a:spcPct val="118000"/>
              </a:lnSpc>
            </a:pPr>
            <a:r>
              <a:rPr sz="1456" b="0" i="0">
                <a:solidFill>
                  <a:srgbClr val="2B2C30"/>
                </a:solidFill>
                <a:latin typeface="Courier New"/>
              </a:rPr>
              <a:t>                    \                    /</a:t>
            </a:r>
          </a:p>
          <a:p>
            <a:pPr algn="l">
              <a:lnSpc>
                <a:spcPct val="118000"/>
              </a:lnSpc>
            </a:pPr>
            <a:r>
              <a:rPr sz="1456" b="0" i="0">
                <a:solidFill>
                  <a:srgbClr val="2B2C30"/>
                </a:solidFill>
                <a:latin typeface="Courier New"/>
              </a:rPr>
              <a:t>                     v                  v</a:t>
            </a:r>
          </a:p>
          <a:p>
            <a:pPr algn="l">
              <a:lnSpc>
                <a:spcPct val="118000"/>
              </a:lnSpc>
            </a:pPr>
            <a:r>
              <a:rPr sz="1456" b="0" i="0">
                <a:solidFill>
                  <a:srgbClr val="2B2C30"/>
                </a:solidFill>
                <a:latin typeface="Courier New"/>
              </a:rPr>
              <a:t>        +-----------------------------------------+</a:t>
            </a:r>
          </a:p>
          <a:p>
            <a:pPr algn="l">
              <a:lnSpc>
                <a:spcPct val="118000"/>
              </a:lnSpc>
            </a:pPr>
            <a:r>
              <a:rPr sz="1456" b="0" i="0">
                <a:solidFill>
                  <a:srgbClr val="2B2C30"/>
                </a:solidFill>
                <a:latin typeface="Courier New"/>
              </a:rPr>
              <a:t>        |  adjudicator: Claude Sonnet 5           |  a third</a:t>
            </a:r>
          </a:p>
          <a:p>
            <a:pPr algn="l">
              <a:lnSpc>
                <a:spcPct val="118000"/>
              </a:lnSpc>
            </a:pPr>
            <a:r>
              <a:rPr sz="1456" b="0" i="0">
                <a:solidFill>
                  <a:srgbClr val="2B2C30"/>
                </a:solidFill>
                <a:latin typeface="Courier New"/>
              </a:rPr>
              <a:t>        |  temperature 0, structured JSON out     |  provider</a:t>
            </a:r>
          </a:p>
          <a:p>
            <a:pPr algn="l">
              <a:lnSpc>
                <a:spcPct val="118000"/>
              </a:lnSpc>
            </a:pPr>
            <a:r>
              <a:rPr sz="1456" b="0" i="0">
                <a:solidFill>
                  <a:srgbClr val="2B2C30"/>
                </a:solidFill>
                <a:latin typeface="Courier New"/>
              </a:rPr>
              <a:t>        |  scoped to submission_id | criterion    |  family, so</a:t>
            </a:r>
          </a:p>
          <a:p>
            <a:pPr algn="l">
              <a:lnSpc>
                <a:spcPct val="118000"/>
              </a:lnSpc>
            </a:pPr>
            <a:r>
              <a:rPr sz="1456" b="0" i="0">
                <a:solidFill>
                  <a:srgbClr val="2B2C30"/>
                </a:solidFill>
                <a:latin typeface="Courier New"/>
              </a:rPr>
              <a:t>        |  subsumption + many-to-many allowed     |  no home-</a:t>
            </a:r>
          </a:p>
          <a:p>
            <a:pPr algn="l">
              <a:lnSpc>
                <a:spcPct val="118000"/>
              </a:lnSpc>
            </a:pPr>
            <a:r>
              <a:rPr sz="1456" b="0" i="0">
                <a:solidFill>
                  <a:srgbClr val="2B2C30"/>
                </a:solidFill>
                <a:latin typeface="Courier New"/>
              </a:rPr>
              <a:t>        +-----------------------------------------+  team bias</a:t>
            </a:r>
          </a:p>
          <a:p>
            <a:pPr algn="l">
              <a:lnSpc>
                <a:spcPct val="118000"/>
              </a:lnSpc>
            </a:pPr>
            <a:r>
              <a:rPr sz="1456" b="0" i="0">
                <a:solidFill>
                  <a:srgbClr val="2B2C30"/>
                </a:solidFill>
                <a:latin typeface="Courier New"/>
              </a:rPr>
              <a:t>                            |</a:t>
            </a:r>
          </a:p>
          <a:p>
            <a:pPr algn="l">
              <a:lnSpc>
                <a:spcPct val="118000"/>
              </a:lnSpc>
            </a:pPr>
            <a:r>
              <a:rPr sz="1456" b="0" i="0">
                <a:solidFill>
                  <a:srgbClr val="2B2C30"/>
                </a:solidFill>
                <a:latin typeface="Courier New"/>
              </a:rPr>
              <a:t>    covered_expert = TP   uncovered_expert = FN   unmatched_llm = FP</a:t>
            </a:r>
          </a:p>
          <a:p>
            <a:pPr algn="l">
              <a:lnSpc>
                <a:spcPct val="118000"/>
              </a:lnSpc>
            </a:pPr>
            <a:r>
              <a:rPr sz="1456" b="0" i="0">
                <a:solidFill>
                  <a:srgbClr val="2B2C30"/>
                </a:solidFill>
                <a:latin typeface="Courier New"/>
              </a:rPr>
              <a:t/>
            </a:r>
          </a:p>
          <a:p>
            <a:pPr algn="l">
              <a:lnSpc>
                <a:spcPct val="118000"/>
              </a:lnSpc>
            </a:pPr>
            <a:r>
              <a:rPr sz="1456" b="0" i="0">
                <a:solidFill>
                  <a:srgbClr val="2B2C30"/>
                </a:solidFill>
                <a:latin typeface="Courier New"/>
              </a:rPr>
              <a:t>The prompt, the model id and every cache entry ship in the artifact.</a:t>
            </a:r>
          </a:p>
          <a:p>
            <a:pPr algn="l">
              <a:lnSpc>
                <a:spcPct val="118000"/>
              </a:lnSpc>
            </a:pPr>
            <a:r>
              <a:rPr sz="1456" b="0" i="0">
                <a:solidFill>
                  <a:srgbClr val="2B2C30"/>
                </a:solidFill>
                <a:latin typeface="Courier New"/>
              </a:rPr>
              <a:t>Sensitivity check: reversing 10 decisions shifts P/R by under 0.04.</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WHAT THE NUMBERS SAY</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191" b="0" i="0">
                <a:solidFill>
                  <a:srgbClr val="2B2C30"/>
                </a:solidFill>
                <a:latin typeface="Courier New"/>
              </a:rPr>
              <a:t>RQ1  grade concordance against the expert reference  (n = 84)</a:t>
            </a:r>
          </a:p>
          <a:p>
            <a:pPr algn="l">
              <a:lnSpc>
                <a:spcPct val="118000"/>
              </a:lnSpc>
            </a:pPr>
            <a:r>
              <a:rPr sz="1191" b="0" i="0">
                <a:solidFill>
                  <a:srgbClr val="2B2C30"/>
                </a:solidFill>
                <a:latin typeface="Courier New"/>
              </a:rPr>
              <a:t/>
            </a:r>
          </a:p>
          <a:p>
            <a:pPr algn="l">
              <a:lnSpc>
                <a:spcPct val="118000"/>
              </a:lnSpc>
            </a:pPr>
            <a:r>
              <a:rPr sz="1191" b="0" i="0">
                <a:solidFill>
                  <a:srgbClr val="2B2C30"/>
                </a:solidFill>
                <a:latin typeface="Courier New"/>
              </a:rPr>
              <a:t>  +-------------------+-------+-------+-------+----------+</a:t>
            </a:r>
          </a:p>
          <a:p>
            <a:pPr algn="l">
              <a:lnSpc>
                <a:spcPct val="118000"/>
              </a:lnSpc>
            </a:pPr>
            <a:r>
              <a:rPr sz="1191" b="0" i="0">
                <a:solidFill>
                  <a:srgbClr val="2B2C30"/>
                </a:solidFill>
                <a:latin typeface="Courier New"/>
              </a:rPr>
              <a:t>  | evaluator         | mean  | MAE   | bias  | +/- 1 pt |</a:t>
            </a:r>
          </a:p>
          <a:p>
            <a:pPr algn="l">
              <a:lnSpc>
                <a:spcPct val="118000"/>
              </a:lnSpc>
            </a:pPr>
            <a:r>
              <a:rPr sz="1191" b="0" i="0">
                <a:solidFill>
                  <a:srgbClr val="2B2C30"/>
                </a:solidFill>
                <a:latin typeface="Courier New"/>
              </a:rPr>
              <a:t>  +-------------------+-------+-------+-------+----------+</a:t>
            </a:r>
          </a:p>
          <a:p>
            <a:pPr algn="l">
              <a:lnSpc>
                <a:spcPct val="118000"/>
              </a:lnSpc>
            </a:pPr>
            <a:r>
              <a:rPr sz="1191" b="0" i="0">
                <a:solidFill>
                  <a:srgbClr val="2B2C30"/>
                </a:solidFill>
                <a:latin typeface="Courier New"/>
              </a:rPr>
              <a:t>  | TA (baseline)     | 8.85  | 0.45  | +0.13 |   91.7%  |</a:t>
            </a:r>
          </a:p>
          <a:p>
            <a:pPr algn="l">
              <a:lnSpc>
                <a:spcPct val="118000"/>
              </a:lnSpc>
            </a:pPr>
            <a:r>
              <a:rPr sz="1191" b="0" i="0">
                <a:solidFill>
                  <a:srgbClr val="2B2C30"/>
                </a:solidFill>
                <a:latin typeface="Courier New"/>
              </a:rPr>
              <a:t>  | Gemini 3.1 Pro    | 8.85  | 0.44  | +0.14 |   92.5%  |</a:t>
            </a:r>
          </a:p>
          <a:p>
            <a:pPr algn="l">
              <a:lnSpc>
                <a:spcPct val="118000"/>
              </a:lnSpc>
            </a:pPr>
            <a:r>
              <a:rPr sz="1191" b="0" i="0">
                <a:solidFill>
                  <a:srgbClr val="2B2C30"/>
                </a:solidFill>
                <a:latin typeface="Courier New"/>
              </a:rPr>
              <a:t>  | GPT-5.5           | 7.26  | 1.48  | -1.45 |   27.4%  |</a:t>
            </a:r>
          </a:p>
          <a:p>
            <a:pPr algn="l">
              <a:lnSpc>
                <a:spcPct val="118000"/>
              </a:lnSpc>
            </a:pPr>
            <a:r>
              <a:rPr sz="1191" b="0" i="0">
                <a:solidFill>
                  <a:srgbClr val="2B2C30"/>
                </a:solidFill>
                <a:latin typeface="Courier New"/>
              </a:rPr>
              <a:t>  +-------------------+-------+-------+-------+----------+</a:t>
            </a:r>
          </a:p>
          <a:p>
            <a:pPr algn="l">
              <a:lnSpc>
                <a:spcPct val="118000"/>
              </a:lnSpc>
            </a:pPr>
            <a:r>
              <a:rPr sz="1191" b="0" i="0">
                <a:solidFill>
                  <a:srgbClr val="2B2C30"/>
                </a:solidFill>
                <a:latin typeface="Courier New"/>
              </a:rPr>
              <a:t/>
            </a:r>
          </a:p>
          <a:p>
            <a:pPr algn="l">
              <a:lnSpc>
                <a:spcPct val="118000"/>
              </a:lnSpc>
            </a:pPr>
            <a:r>
              <a:rPr sz="1191" b="0" i="0">
                <a:solidFill>
                  <a:srgbClr val="2B2C30"/>
                </a:solidFill>
                <a:latin typeface="Courier New"/>
              </a:rPr>
              <a:t>RQ2  diagnostic alignment - same F1, opposite failure modes</a:t>
            </a:r>
          </a:p>
          <a:p>
            <a:pPr algn="l">
              <a:lnSpc>
                <a:spcPct val="118000"/>
              </a:lnSpc>
            </a:pPr>
            <a:r>
              <a:rPr sz="1191" b="0" i="0">
                <a:solidFill>
                  <a:srgbClr val="2B2C30"/>
                </a:solidFill>
                <a:latin typeface="Courier New"/>
              </a:rPr>
              <a:t/>
            </a:r>
          </a:p>
          <a:p>
            <a:pPr algn="l">
              <a:lnSpc>
                <a:spcPct val="118000"/>
              </a:lnSpc>
            </a:pPr>
            <a:r>
              <a:rPr sz="1191" b="0" i="0">
                <a:solidFill>
                  <a:srgbClr val="2B2C30"/>
                </a:solidFill>
                <a:latin typeface="Courier New"/>
              </a:rPr>
              <a:t>  +-------------------+-------+-------+-------+</a:t>
            </a:r>
          </a:p>
          <a:p>
            <a:pPr algn="l">
              <a:lnSpc>
                <a:spcPct val="118000"/>
              </a:lnSpc>
            </a:pPr>
            <a:r>
              <a:rPr sz="1191" b="0" i="0">
                <a:solidFill>
                  <a:srgbClr val="2B2C30"/>
                </a:solidFill>
                <a:latin typeface="Courier New"/>
              </a:rPr>
              <a:t>  | model             |  P    |  R    |  F1   |</a:t>
            </a:r>
          </a:p>
          <a:p>
            <a:pPr algn="l">
              <a:lnSpc>
                <a:spcPct val="118000"/>
              </a:lnSpc>
            </a:pPr>
            <a:r>
              <a:rPr sz="1191" b="0" i="0">
                <a:solidFill>
                  <a:srgbClr val="2B2C30"/>
                </a:solidFill>
                <a:latin typeface="Courier New"/>
              </a:rPr>
              <a:t>  +-------------------+-------+-------+-------+</a:t>
            </a:r>
          </a:p>
          <a:p>
            <a:pPr algn="l">
              <a:lnSpc>
                <a:spcPct val="118000"/>
              </a:lnSpc>
            </a:pPr>
            <a:r>
              <a:rPr sz="1191" b="0" i="0">
                <a:solidFill>
                  <a:srgbClr val="2B2C30"/>
                </a:solidFill>
                <a:latin typeface="Courier New"/>
              </a:rPr>
              <a:t>  | GPT-5.5           | 0.52  | 0.96  | 0.67  |   exhaustive, noisy</a:t>
            </a:r>
          </a:p>
          <a:p>
            <a:pPr algn="l">
              <a:lnSpc>
                <a:spcPct val="118000"/>
              </a:lnSpc>
            </a:pPr>
            <a:r>
              <a:rPr sz="1191" b="0" i="0">
                <a:solidFill>
                  <a:srgbClr val="2B2C30"/>
                </a:solidFill>
                <a:latin typeface="Courier New"/>
              </a:rPr>
              <a:t>  | Gemini 3.1 Pro    | 0.69  | 0.62  | 0.65  |   clean, incomplete</a:t>
            </a:r>
          </a:p>
          <a:p>
            <a:pPr algn="l">
              <a:lnSpc>
                <a:spcPct val="118000"/>
              </a:lnSpc>
            </a:pPr>
            <a:r>
              <a:rPr sz="1191" b="0" i="0">
                <a:solidFill>
                  <a:srgbClr val="2B2C30"/>
                </a:solidFill>
                <a:latin typeface="Courier New"/>
              </a:rPr>
              <a:t>  +-------------------+-------+-------+-------+</a:t>
            </a:r>
          </a:p>
          <a:p>
            <a:pPr algn="l">
              <a:lnSpc>
                <a:spcPct val="118000"/>
              </a:lnSpc>
            </a:pPr>
            <a:r>
              <a:rPr sz="1191" b="0" i="0">
                <a:solidFill>
                  <a:srgbClr val="2B2C30"/>
                </a:solidFill>
                <a:latin typeface="Courier New"/>
              </a:rPr>
              <a:t/>
            </a:r>
          </a:p>
          <a:p>
            <a:pPr algn="l">
              <a:lnSpc>
                <a:spcPct val="118000"/>
              </a:lnSpc>
            </a:pPr>
            <a:r>
              <a:rPr sz="1191" b="0" i="0">
                <a:solidFill>
                  <a:srgbClr val="2B2C30"/>
                </a:solidFill>
                <a:latin typeface="Courier New"/>
              </a:rPr>
              <a:t>Stability: ICC 0.89 / 0.90, yet exact 3-run agreement 2.4% / 0.0%</a:t>
            </a:r>
          </a:p>
          <a:p>
            <a:pPr algn="l">
              <a:lnSpc>
                <a:spcPct val="118000"/>
              </a:lnSpc>
            </a:pPr>
            <a:r>
              <a:rPr sz="1191" b="0" i="0">
                <a:solidFill>
                  <a:srgbClr val="2B2C30"/>
                </a:solidFill>
                <a:latin typeface="Courier New"/>
              </a:rPr>
              <a:t/>
            </a:r>
          </a:p>
          <a:p>
            <a:pPr algn="l">
              <a:lnSpc>
                <a:spcPct val="118000"/>
              </a:lnSpc>
            </a:pPr>
            <a:r>
              <a:rPr sz="1191" b="0" i="0">
                <a:solidFill>
                  <a:srgbClr val="2B2C30"/>
                </a:solidFill>
                <a:latin typeface="Courier New"/>
              </a:rPr>
              <a:t>Grading is easy. Feedback is hard.</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REPRODUCE IT</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542" b="0" i="0">
                <a:solidFill>
                  <a:srgbClr val="2B2C30"/>
                </a:solidFill>
                <a:latin typeface="Courier New"/>
              </a:rPr>
              <a:t>  $ python3 -m venv .venv &amp;&amp; source .venv/bin/activate</a:t>
            </a:r>
          </a:p>
          <a:p>
            <a:pPr algn="l">
              <a:lnSpc>
                <a:spcPct val="118000"/>
              </a:lnSpc>
            </a:pPr>
            <a:r>
              <a:rPr sz="1542" b="0" i="0">
                <a:solidFill>
                  <a:srgbClr val="2B2C30"/>
                </a:solidFill>
                <a:latin typeface="Courier New"/>
              </a:rPr>
              <a:t>  $ python3 -m pip install -r requirements.txt</a:t>
            </a:r>
          </a:p>
          <a:p>
            <a:pPr algn="l">
              <a:lnSpc>
                <a:spcPct val="118000"/>
              </a:lnSpc>
            </a:pPr>
            <a:r>
              <a:rPr sz="1542" b="0" i="0">
                <a:solidFill>
                  <a:srgbClr val="2B2C30"/>
                </a:solidFill>
                <a:latin typeface="Courier New"/>
              </a:rPr>
              <a:t>  $ python3 src/reproduce.py</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No API keys. No Docker. No GPU. Checked on a clean Ubuntu machine while</a:t>
            </a:r>
          </a:p>
          <a:p>
            <a:pPr algn="l">
              <a:lnSpc>
                <a:spcPct val="118000"/>
              </a:lnSpc>
            </a:pPr>
            <a:r>
              <a:rPr sz="1542" b="0" i="0">
                <a:solidFill>
                  <a:srgbClr val="2B2C30"/>
                </a:solidFill>
                <a:latin typeface="Courier New"/>
              </a:rPr>
              <a:t>preparing this talk: 13 seconds end to end, every markdown table byte-</a:t>
            </a:r>
          </a:p>
          <a:p>
            <a:pPr algn="l">
              <a:lnSpc>
                <a:spcPct val="118000"/>
              </a:lnSpc>
            </a:pPr>
            <a:r>
              <a:rPr sz="1542" b="0" i="0">
                <a:solidFill>
                  <a:srgbClr val="2B2C30"/>
                </a:solidFill>
                <a:latin typeface="Courier New"/>
              </a:rPr>
              <a:t>identical, only floating-point last digits moved inside the p-values.</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  --extra                   + triangulation, by-category</a:t>
            </a:r>
          </a:p>
          <a:p>
            <a:pPr algn="l">
              <a:lnSpc>
                <a:spcPct val="118000"/>
              </a:lnSpc>
            </a:pPr>
            <a:r>
              <a:rPr sz="1542" b="0" i="0">
                <a:solidFill>
                  <a:srgbClr val="2B2C30"/>
                </a:solidFill>
                <a:latin typeface="Courier New"/>
              </a:rPr>
              <a:t>  --with-apis               re-run the LLMs (may differ)</a:t>
            </a:r>
          </a:p>
          <a:p>
            <a:pPr algn="l">
              <a:lnSpc>
                <a:spcPct val="118000"/>
              </a:lnSpc>
            </a:pPr>
            <a:r>
              <a:rPr sz="1542" b="0" i="0">
                <a:solidFill>
                  <a:srgbClr val="2B2C30"/>
                </a:solidFill>
                <a:latin typeface="Courier New"/>
              </a:rPr>
              <a:t>  --with-apis --limit 2     cheap smoke test</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Reuse path for your own course:</a:t>
            </a:r>
          </a:p>
          <a:p>
            <a:pPr algn="l">
              <a:lnSpc>
                <a:spcPct val="118000"/>
              </a:lnSpc>
            </a:pPr>
            <a:r>
              <a:rPr sz="1542" b="0" i="0">
                <a:solidFill>
                  <a:srgbClr val="2B2C30"/>
                </a:solidFill>
                <a:latin typeface="Courier New"/>
              </a:rPr>
              <a:t/>
            </a:r>
          </a:p>
          <a:p>
            <a:pPr algn="l">
              <a:lnSpc>
                <a:spcPct val="118000"/>
              </a:lnSpc>
            </a:pPr>
            <a:r>
              <a:rPr sz="1542" b="0" i="0">
                <a:solidFill>
                  <a:srgbClr val="2B2C30"/>
                </a:solidFill>
                <a:latin typeface="Courier New"/>
              </a:rPr>
              <a:t>  1. replace assignment/rubric.json and lab_specification.md</a:t>
            </a:r>
          </a:p>
          <a:p>
            <a:pPr algn="l">
              <a:lnSpc>
                <a:spcPct val="118000"/>
              </a:lnSpc>
            </a:pPr>
            <a:r>
              <a:rPr sz="1542" b="0" i="0">
                <a:solidFill>
                  <a:srgbClr val="2B2C30"/>
                </a:solidFill>
                <a:latin typeface="Courier New"/>
              </a:rPr>
              <a:t>  2. drop your submissions into inputs/submissions/</a:t>
            </a:r>
          </a:p>
          <a:p>
            <a:pPr algn="l">
              <a:lnSpc>
                <a:spcPct val="118000"/>
              </a:lnSpc>
            </a:pPr>
            <a:r>
              <a:rPr sz="1542" b="0" i="0">
                <a:solidFill>
                  <a:srgbClr val="2B2C30"/>
                </a:solidFill>
                <a:latin typeface="Courier New"/>
              </a:rPr>
              <a:t>  3. keep src/prompt/  -  that is the transferable part</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EEE7"/>
        </a:solidFill>
        <a:effectLst/>
      </p:bgPr>
    </p:bg>
    <p:spTree>
      <p:nvGrpSpPr>
        <p:cNvPr id="1" name=""/>
        <p:cNvGrpSpPr/>
        <p:nvPr/>
      </p:nvGrpSpPr>
      <p:grpSpPr/>
      <p:sp>
        <p:nvSpPr>
          <p:cNvPr id="2" name="TextBox 1"/>
          <p:cNvSpPr txBox="1"/>
          <p:nvPr/>
        </p:nvSpPr>
        <p:spPr>
          <a:xfrm>
            <a:off x="685800" y="475488"/>
            <a:ext cx="10817352" cy="566928"/>
          </a:xfrm>
          <a:prstGeom prst="rect">
            <a:avLst/>
          </a:prstGeom>
          <a:noFill/>
        </p:spPr>
        <p:txBody>
          <a:bodyPr wrap="square" lIns="0" rIns="0" tIns="0" bIns="0" anchor="b">
            <a:noAutofit/>
          </a:bodyPr>
          <a:lstStyle/>
          <a:p>
            <a:r>
              <a:rPr sz="1700" b="1" i="0" spc="340">
                <a:solidFill>
                  <a:srgbClr val="2B2C30"/>
                </a:solidFill>
                <a:latin typeface="Public Sans"/>
              </a:rPr>
              <a:t>TAKEAWAY</a:t>
            </a:r>
          </a:p>
        </p:txBody>
      </p:sp>
      <p:cxnSp>
        <p:nvCxnSpPr>
          <p:cNvPr id="3" name="Connector 2"/>
          <p:cNvCxnSpPr/>
          <p:nvPr/>
        </p:nvCxnSpPr>
        <p:spPr>
          <a:xfrm>
            <a:off x="685800" y="1133856"/>
            <a:ext cx="10817352" cy="0"/>
          </a:xfrm>
          <a:prstGeom prst="line">
            <a:avLst/>
          </a:prstGeom>
          <a:ln w="9525">
            <a:solidFill>
              <a:srgbClr val="D5D3C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298448"/>
            <a:ext cx="10817352" cy="4754880"/>
          </a:xfrm>
          <a:prstGeom prst="rect">
            <a:avLst/>
          </a:prstGeom>
          <a:noFill/>
        </p:spPr>
        <p:txBody>
          <a:bodyPr wrap="none" lIns="0" rIns="0" tIns="0" bIns="0">
            <a:noAutofit/>
          </a:bodyPr>
          <a:lstStyle/>
          <a:p>
            <a:pPr algn="l">
              <a:lnSpc>
                <a:spcPct val="118000"/>
              </a:lnSpc>
            </a:pPr>
            <a:r>
              <a:rPr sz="1600" b="0" i="0">
                <a:solidFill>
                  <a:srgbClr val="2B2C30"/>
                </a:solidFill>
                <a:latin typeface="Courier New"/>
              </a:rPr>
              <a:t>We are not shipping a grader. We are shipping a way to measure one.</a:t>
            </a:r>
          </a:p>
          <a:p>
            <a:pPr algn="l">
              <a:lnSpc>
                <a:spcPct val="118000"/>
              </a:lnSpc>
            </a:pPr>
            <a:r>
              <a:rPr sz="1600" b="0" i="0">
                <a:solidFill>
                  <a:srgbClr val="2B2C30"/>
                </a:solidFill>
                <a:latin typeface="Courier New"/>
              </a:rPr>
              <a:t/>
            </a:r>
          </a:p>
          <a:p>
            <a:pPr algn="l">
              <a:lnSpc>
                <a:spcPct val="118000"/>
              </a:lnSpc>
            </a:pPr>
            <a:r>
              <a:rPr sz="1600" b="0" i="0">
                <a:solidFill>
                  <a:srgbClr val="2B2C30"/>
                </a:solidFill>
                <a:latin typeface="Courier New"/>
              </a:rPr>
              <a:t>  . a two-stage prompt protocol with auditable JSON at every step</a:t>
            </a:r>
          </a:p>
          <a:p>
            <a:pPr algn="l">
              <a:lnSpc>
                <a:spcPct val="118000"/>
              </a:lnSpc>
            </a:pPr>
            <a:r>
              <a:rPr sz="1600" b="0" i="0">
                <a:solidFill>
                  <a:srgbClr val="2B2C30"/>
                </a:solidFill>
                <a:latin typeface="Courier New"/>
              </a:rPr>
              <a:t>  . placeholder templates: swap the rubric, swap the assignment</a:t>
            </a:r>
          </a:p>
          <a:p>
            <a:pPr algn="l">
              <a:lnSpc>
                <a:spcPct val="118000"/>
              </a:lnSpc>
            </a:pPr>
            <a:r>
              <a:rPr sz="1600" b="0" i="0">
                <a:solidFill>
                  <a:srgbClr val="2B2C30"/>
                </a:solidFill>
                <a:latin typeface="Courier New"/>
              </a:rPr>
              <a:t>  . grade concordance and diagnostic alignment measured separately</a:t>
            </a:r>
          </a:p>
          <a:p>
            <a:pPr algn="l">
              <a:lnSpc>
                <a:spcPct val="118000"/>
              </a:lnSpc>
            </a:pPr>
            <a:r>
              <a:rPr sz="1600" b="0" i="0">
                <a:solidFill>
                  <a:srgbClr val="2B2C30"/>
                </a:solidFill>
                <a:latin typeface="Courier New"/>
              </a:rPr>
              <a:t>  . 84 real submissions, an expert reference, 3 runs per model</a:t>
            </a:r>
          </a:p>
          <a:p>
            <a:pPr algn="l">
              <a:lnSpc>
                <a:spcPct val="118000"/>
              </a:lnSpc>
            </a:pPr>
            <a:r>
              <a:rPr sz="1600" b="0" i="0">
                <a:solidFill>
                  <a:srgbClr val="2B2C30"/>
                </a:solidFill>
                <a:latin typeface="Courier New"/>
              </a:rPr>
              <a:t>  . one command, no keys, 13 seconds</a:t>
            </a:r>
          </a:p>
          <a:p>
            <a:pPr algn="l">
              <a:lnSpc>
                <a:spcPct val="118000"/>
              </a:lnSpc>
            </a:pPr>
            <a:r>
              <a:rPr sz="1600" b="0" i="0">
                <a:solidFill>
                  <a:srgbClr val="2B2C30"/>
                </a:solidFill>
                <a:latin typeface="Courier New"/>
              </a:rPr>
              <a:t/>
            </a:r>
          </a:p>
          <a:p>
            <a:pPr algn="l">
              <a:lnSpc>
                <a:spcPct val="118000"/>
              </a:lnSpc>
            </a:pPr>
            <a:r>
              <a:rPr sz="1600" b="0" i="0">
                <a:solidFill>
                  <a:srgbClr val="2B2C30"/>
                </a:solidFill>
                <a:latin typeface="Courier New"/>
              </a:rPr>
              <a:t>Thank you.  Questions?</a:t>
            </a:r>
          </a:p>
          <a:p>
            <a:pPr algn="l">
              <a:lnSpc>
                <a:spcPct val="118000"/>
              </a:lnSpc>
            </a:pPr>
            <a:r>
              <a:rPr sz="1600" b="0" i="0">
                <a:solidFill>
                  <a:srgbClr val="2B2C30"/>
                </a:solidFill>
                <a:latin typeface="Courier New"/>
              </a:rPr>
              <a:t/>
            </a:r>
          </a:p>
          <a:p>
            <a:pPr algn="l">
              <a:lnSpc>
                <a:spcPct val="118000"/>
              </a:lnSpc>
            </a:pPr>
            <a:r>
              <a:rPr sz="1600" b="0" i="0">
                <a:solidFill>
                  <a:srgbClr val="2B2C30"/>
                </a:solidFill>
                <a:latin typeface="Courier New"/>
              </a:rPr>
              <a:t>github.com/elipcs/grading-is-easy-feedback-is-hard</a:t>
            </a:r>
          </a:p>
          <a:p>
            <a:pPr algn="l">
              <a:lnSpc>
                <a:spcPct val="118000"/>
              </a:lnSpc>
            </a:pPr>
            <a:r>
              <a:rPr sz="1600" b="0" i="0">
                <a:solidFill>
                  <a:srgbClr val="2B2C30"/>
                </a:solidFill>
                <a:latin typeface="Courier New"/>
              </a:rPr>
              <a:t/>
            </a:r>
          </a:p>
          <a:p>
            <a:pPr algn="l">
              <a:lnSpc>
                <a:spcPct val="118000"/>
              </a:lnSpc>
            </a:pPr>
            <a:r>
              <a:rPr sz="1600" b="0" i="0">
                <a:solidFill>
                  <a:srgbClr val="2B2C30"/>
                </a:solidFill>
                <a:latin typeface="Courier New"/>
              </a:rPr>
              <a:t>DOI 10.5281/zenodo.21385431  .  License CC BY 4.0</a:t>
            </a:r>
          </a:p>
        </p:txBody>
      </p:sp>
      <p:sp>
        <p:nvSpPr>
          <p:cNvPr id="5" name="TextBox 4"/>
          <p:cNvSpPr txBox="1"/>
          <p:nvPr/>
        </p:nvSpPr>
        <p:spPr>
          <a:xfrm>
            <a:off x="685800" y="6236208"/>
            <a:ext cx="10817352" cy="411480"/>
          </a:xfrm>
          <a:prstGeom prst="rect">
            <a:avLst/>
          </a:prstGeom>
          <a:noFill/>
        </p:spPr>
        <p:txBody>
          <a:bodyPr wrap="square" lIns="0" rIns="0" tIns="0" bIns="0">
            <a:noAutofit/>
          </a:bodyPr>
          <a:lstStyle/>
          <a:p>
            <a:pPr algn="r"/>
            <a:r>
              <a:rPr sz="2000" b="0" i="0">
                <a:solidFill>
                  <a:srgbClr val="2B2C30"/>
                </a:solidFill>
                <a:latin typeface="Playfair Display"/>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